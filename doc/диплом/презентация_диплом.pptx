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3"/>
  </p:notesMasterIdLst>
  <p:sldIdLst>
    <p:sldId id="29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96" r:id="rId12"/>
    <p:sldId id="283" r:id="rId13"/>
    <p:sldId id="284" r:id="rId14"/>
    <p:sldId id="285" r:id="rId15"/>
    <p:sldId id="288" r:id="rId16"/>
    <p:sldId id="287" r:id="rId17"/>
    <p:sldId id="290" r:id="rId18"/>
    <p:sldId id="297" r:id="rId19"/>
    <p:sldId id="292" r:id="rId20"/>
    <p:sldId id="293" r:id="rId21"/>
    <p:sldId id="294" r:id="rId22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97B0"/>
    <a:srgbClr val="D6D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75467" autoAdjust="0"/>
  </p:normalViewPr>
  <p:slideViewPr>
    <p:cSldViewPr snapToGrid="0">
      <p:cViewPr>
        <p:scale>
          <a:sx n="100" d="100"/>
          <a:sy n="100" d="100"/>
        </p:scale>
        <p:origin x="2261" y="-86"/>
      </p:cViewPr>
      <p:guideLst/>
    </p:cSldViewPr>
  </p:slideViewPr>
  <p:outlineViewPr>
    <p:cViewPr>
      <p:scale>
        <a:sx n="33" d="100"/>
        <a:sy n="33" d="100"/>
      </p:scale>
      <p:origin x="0" y="-4512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E4EBB-42C1-405E-AB23-F55E327ADF57}" type="datetimeFigureOut">
              <a:rPr lang="ru-RU" smtClean="0"/>
              <a:t>07.06.2025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6DF3F-720C-488B-AF8F-3F3772ACB2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78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6DF3F-720C-488B-AF8F-3F3772ACB26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366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Jira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очень мощная, но требует времени на обучение, имеет высокую стоимость и недоступна в России. Для небольших команд это избыточность и дополнительные барьеры.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Asana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простая и удобная, но ограничена в возможностях для сложных проектов и не поддерживает русский язык, что может затруднить её использование внутрироссийских стартапов.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ClickUp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предлагает много функций, но его интерфейс перегружен, а часть возможностей доступна только за деньги. Также он, как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Jira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, недоступен в России.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Notion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подходит для создания баз знаний, но не является полноценным инструментом управления проектами, особенно если есть множество зависимостей между задачами.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Microsoft To Do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хорош для личных задач, но плохо подходит для управления командой и сложными проектами.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Redmine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бесплатна и гибка, но требует технических знаний для установки и настройки — это сложно для небольших команд без IT-специалистов.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TEAMLY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предлагает автоматизацию и аналитику, но требует времени на внедрение и адаптацию.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6DF3F-720C-488B-AF8F-3F3772ACB26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863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система контроля версий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платформа для хранения репозиториев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8 — фреймворк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DocFX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инструмент для генерации документации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 Studio —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среда разработки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легковесная встраиваемая СУБД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Framework Core — библиотека.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ASP.NET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технология создания динамических веб-страниц, для построения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MVC — архитектурный паттерн, использовался для разделения логики приложения.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 — язык программирования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6DF3F-720C-488B-AF8F-3F3772ACB26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883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6DF3F-720C-488B-AF8F-3F3772ACB26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987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выполнения запросов было разработано 8 моделей, описывающих структуру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работы с пользователями и проектами было разработано два контроллера: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UsersController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предназначен для управления данными пользователей, включая регистрацию, аутентификацию и редактирование профилей.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ProjectsController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предназначен для управления проектами, задачами и связанными процессами, такими как изменение статусов задач, генерация отчетов и статистики.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6DF3F-720C-488B-AF8F-3F3772ACB26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915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Получение данных, необходимых для отрисовки графиков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Генерация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.xlsx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файла с логами проекта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Логирование действия пользователей в рамках проекта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Отправляет уведомления на электронную почту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 с паролями, хеширование и проверка соответствия требованиям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Сортировка пользователей внутри проекта по числу задач и срочности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Генерация случайных токенов для верификации, восстановления паролей и других целей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 с пользователями, проектами и связями между ними.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6DF3F-720C-488B-AF8F-3F3772ACB26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618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выборе категории задачи список доступных ответственных динамически изменяется в соответствии с их категориями и сортируется, «предлагая» менее загруженных на данный момент сотрудников.</a:t>
            </a:r>
            <a:br>
              <a:rPr lang="ru-RU" dirty="0"/>
            </a:br>
            <a:r>
              <a:rPr lang="ru-RU" dirty="0"/>
              <a:t>Если категория не указана, ответственным на задачу можно назначить любого сотрудника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6DF3F-720C-488B-AF8F-3F3772ACB26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19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Логируются</a:t>
            </a:r>
            <a:r>
              <a:rPr lang="ru-RU" dirty="0"/>
              <a:t> все действия в рамках проекта с указанием имени и фамилии выполнившего действие, само действие и время.</a:t>
            </a:r>
          </a:p>
          <a:p>
            <a:r>
              <a:rPr lang="ru-RU" dirty="0"/>
              <a:t>Историю действий можно экспортировать в </a:t>
            </a:r>
            <a:r>
              <a:rPr lang="en-US" dirty="0"/>
              <a:t>.xlsx </a:t>
            </a:r>
            <a:r>
              <a:rPr lang="ru-RU" dirty="0"/>
              <a:t>файл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6DF3F-720C-488B-AF8F-3F3772ACB26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901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Процент выполненных задач</a:t>
            </a:r>
          </a:p>
          <a:p>
            <a:r>
              <a:rPr lang="ru-RU" dirty="0"/>
              <a:t>Количество задач по каждому статусу</a:t>
            </a:r>
            <a:br>
              <a:rPr lang="ru-RU" dirty="0"/>
            </a:br>
            <a:r>
              <a:rPr lang="ru-RU" dirty="0"/>
              <a:t>Количество задач по каждому приоритету</a:t>
            </a:r>
          </a:p>
          <a:p>
            <a:r>
              <a:rPr lang="ru-RU" dirty="0"/>
              <a:t>Рейтинг сотрудников по выполненным и просроченным задачам()</a:t>
            </a:r>
            <a:br>
              <a:rPr lang="ru-RU" dirty="0"/>
            </a:br>
            <a:r>
              <a:rPr lang="ru-RU" dirty="0"/>
              <a:t>Статистика по созданным и выполненным задачам с возможностью выбора периода и категорий задач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6DF3F-720C-488B-AF8F-3F3772ACB26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489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862A9-89E9-57B3-4439-9D956E1A3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91E4BE-76CA-11F8-DDDA-881300DAA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24ED6D-8833-EBB8-30F9-1CD9F564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863FD-6653-4640-8203-35EEA9C1EDB9}" type="datetime1">
              <a:rPr lang="ru-RU" smtClean="0"/>
              <a:t>07.06.2025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5455CF-69D9-65E4-ECCD-2F76369B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D0169-AE80-0422-04A9-714D8E8A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346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A7B2C-37B4-176D-FF97-FB95783D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1A6AB-47E2-8BFB-3C13-2DDD945A0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0A6599-46DF-FA73-4155-585B86636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F06E3-6F1B-4203-8129-4F4359BB6337}" type="datetime1">
              <a:rPr lang="ru-RU" smtClean="0"/>
              <a:t>07.06.2025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B40F0B-24CF-E99F-7EED-10098FE0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D399B1-EFD8-6FF0-97F3-C2D7439F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21621" y="6356352"/>
            <a:ext cx="2057400" cy="446544"/>
          </a:xfrm>
        </p:spPr>
        <p:txBody>
          <a:bodyPr/>
          <a:lstStyle>
            <a:lvl1pPr>
              <a:defRPr sz="3600" b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fld id="{67DF0C54-6F6A-427E-942C-213547A4963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53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014F6-023F-1D95-F6A9-8AB83D2C7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137448-6905-6605-2875-6F308A254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AFB19A-78B9-5CD1-2725-A31C5645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348DC-5987-4A01-9EF2-1F6FBE627797}" type="datetime1">
              <a:rPr lang="ru-RU" smtClean="0"/>
              <a:t>07.06.2025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CA6F75-2BA9-3A35-B150-DAEEEB4A4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BBAE73-6B99-3C3B-270A-EAC73706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44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FB7C2-0F88-ACF7-16CF-9EEF703F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25F636-A6EB-143E-D0EB-53856B104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A26737-F801-71AA-CB7A-79C68371B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00784E-3D00-2DF8-5FA8-BBAD8FC3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7741-20C6-460E-AD44-513C3CE7D01D}" type="datetime1">
              <a:rPr lang="ru-RU" smtClean="0"/>
              <a:t>07.06.2025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D2414E-9C21-01C5-D9C4-BC7A047C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74B9CE-7E68-C56F-EF7A-7117959A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2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366773-380C-7897-FD20-B10F2588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FB1A88-8F30-6D53-DCDC-FF3F978AB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F924A3-69C7-1D4E-E6F6-FEB4D6055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3C29DA-73BC-C56E-86F4-9764E28AA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0ABA97-6F8F-7E4A-50BE-48971D84F4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674A01-7410-269F-B6A4-BF9D9C1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8432-38C4-4B4D-89DA-F507C0C85EE7}" type="datetime1">
              <a:rPr lang="ru-RU" smtClean="0"/>
              <a:t>07.06.2025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9371D2-40D3-9551-5CB6-E5A29E10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0DE94F-366A-7160-19B6-CF945FE2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194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D2A69-212F-89F0-4266-2C8A55C9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EA3F64E-1943-AAC6-A0C5-1EE50BA1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A303-86E6-4801-9CC1-C39B1003E59C}" type="datetime1">
              <a:rPr lang="ru-RU" smtClean="0"/>
              <a:t>07.06.2025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3B5D50E-9861-7B0B-2F20-5C1E1061E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5B250A-AC5A-C594-3B4D-0757CFAF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726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4311E5-43DF-A6C9-C49F-E6CB70D9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1DDC-CA19-4ED0-BDAE-DCA0105B0D2F}" type="datetime1">
              <a:rPr lang="ru-RU" smtClean="0"/>
              <a:t>07.06.2025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9C77EC-603D-F66F-49CB-5CA551398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4B781B-5DF5-0679-1422-EDEA322A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125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19EB7-54B8-E396-7C8F-0FF579633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06330B-2397-316F-B8DB-B8C4A1284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C86666-04E4-3875-C1F2-2E66B8A05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0C14AE-63CE-0804-A3E8-F38E03E8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C1C-BAB1-4EF6-99E4-D0BA10BCC851}" type="datetime1">
              <a:rPr lang="ru-RU" smtClean="0"/>
              <a:t>07.06.2025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EBC81A-E425-ACF3-754C-8996347B8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30EAB6-FEA5-8365-4F8E-BDD9DB8C1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23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BAFD56-ABDA-3AFC-62D1-8A5E0F6D3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E54598E-4F5A-AF4A-BD3D-346E1FFB3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73EE9E-1997-7E43-F425-7BC0B0452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AEB538-5C49-12F2-D7D2-70070607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A2771-581C-4D4C-88E9-FA6AE7B2C7CF}" type="datetime1">
              <a:rPr lang="ru-RU" smtClean="0"/>
              <a:t>07.06.2025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FBC199-245F-067F-244F-3CAA85E44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D5E805-005C-8EC6-EAE2-7833E0FE5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98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C2B07-884A-241E-8344-F5948427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7F957A-E7DD-ACD6-0B5D-25BBBA779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2F8C69-0792-015F-9229-B674244A6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68DE-3B14-4555-B247-C64267B022AD}" type="datetime1">
              <a:rPr lang="ru-RU" smtClean="0"/>
              <a:t>07.06.2025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0B0BBB-C4A5-E080-DFB8-57AF237F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9ECCC5-9140-B4F5-FA8B-B7CA18A6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49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DBFC7B9-04C5-E238-08BC-64CA6E118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4085C7-39DA-C686-EEE9-69F478996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BE2DE6-9367-1DF4-112F-A7B25F3F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AA4A-AA90-43CA-B751-8889893C5972}" type="datetime1">
              <a:rPr lang="ru-RU" smtClean="0"/>
              <a:t>07.06.2025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3C00E1-8B3C-7F76-FBE3-59204DEB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302A80-AB22-5EDA-DC40-FB31CD47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237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209C9-D471-182B-CA30-8B7F34970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E1D1EA7-93FE-CA81-C0A9-7299C8934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78F2-CF16-423D-B889-7905E903B8F1}" type="datetime1">
              <a:rPr lang="ru-RU" smtClean="0"/>
              <a:t>07.06.2025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7C0368-2268-1E1F-03C1-25C6129E8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678906-5639-D4E2-6E79-8FF247FE3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65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599ECF-F2D8-0907-F4AA-A5E087BD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645F3D-6B31-02CA-81E7-69F6F81C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A54E44-0930-9113-8365-619DA5BFD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1C084-C3FA-4D2C-9964-446E4ABB3314}" type="datetime1">
              <a:rPr lang="ru-RU" smtClean="0"/>
              <a:t>07.06.2025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EE3588-F03C-3DDA-182F-6C46173D6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407CFE-BDE3-7D4F-7F66-0F34D948C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F0C54-6F6A-427E-942C-213547A49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59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6" Type="http://schemas.microsoft.com/office/2007/relationships/hdphoto" Target="../media/hdphoto2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jpe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17" Type="http://schemas.openxmlformats.org/officeDocument/2006/relationships/image" Target="../media/image3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7CD4AE-89EC-823C-37C8-6FA1DF3B797D}"/>
              </a:ext>
            </a:extLst>
          </p:cNvPr>
          <p:cNvSpPr txBox="1"/>
          <p:nvPr/>
        </p:nvSpPr>
        <p:spPr>
          <a:xfrm>
            <a:off x="1602790" y="143537"/>
            <a:ext cx="74239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 Российской Федерации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профессионального образования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«Владимирский государственный университет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имени Александра Григорьевича и Николая Григорьевича Столетовых»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ВлГУ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физики и прикладной математики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363C86-E4D4-AA83-6006-A34A54BE8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59" y="324285"/>
            <a:ext cx="1669828" cy="166982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B6A8636-042D-2A76-0DAF-6046B5562AAA}"/>
              </a:ext>
            </a:extLst>
          </p:cNvPr>
          <p:cNvSpPr txBox="1">
            <a:spLocks/>
          </p:cNvSpPr>
          <p:nvPr/>
        </p:nvSpPr>
        <p:spPr>
          <a:xfrm>
            <a:off x="675628" y="2355610"/>
            <a:ext cx="7792744" cy="20918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 приложения управления проектами для малых команд и стартапов с функционалом анализа производительности, рейтингом участников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3CF3C737-3BF8-D104-4A34-B1B11D313424}"/>
              </a:ext>
            </a:extLst>
          </p:cNvPr>
          <p:cNvSpPr txBox="1">
            <a:spLocks/>
          </p:cNvSpPr>
          <p:nvPr/>
        </p:nvSpPr>
        <p:spPr>
          <a:xfrm>
            <a:off x="117259" y="4808941"/>
            <a:ext cx="3403993" cy="2209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</a:t>
            </a: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Руденко А.М.,</a:t>
            </a: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ИПсп-121</a:t>
            </a:r>
          </a:p>
          <a:p>
            <a:pPr marL="0" indent="0">
              <a:buNone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Лоханов А.В.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КиТП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к.т.н.</a:t>
            </a:r>
          </a:p>
        </p:txBody>
      </p:sp>
    </p:spTree>
    <p:extLst>
      <p:ext uri="{BB962C8B-B14F-4D97-AF65-F5344CB8AC3E}">
        <p14:creationId xmlns:p14="http://schemas.microsoft.com/office/powerpoint/2010/main" val="229742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E014E-EF39-6635-6500-8616C931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7DAC4D-A28E-98B7-6648-BFB36FBFF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887" y="1134948"/>
            <a:ext cx="6452794" cy="1464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дипломного проекта –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1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оздание веб-приложения для управления проектами, рассчитанного на малые команды и стартапы.</a:t>
            </a:r>
          </a:p>
          <a:p>
            <a:pPr marL="0" indent="0">
              <a:buNone/>
            </a:pP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093569-61BC-994C-8D08-0FBDEECDF55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77934" y="4072344"/>
            <a:ext cx="2027255" cy="202725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D523488-652A-1E1F-F0F7-2E367C2EDB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196" y="854765"/>
            <a:ext cx="1838619" cy="18386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A4A793-484E-33DE-5E5D-571494D23060}"/>
              </a:ext>
            </a:extLst>
          </p:cNvPr>
          <p:cNvSpPr txBox="1"/>
          <p:nvPr/>
        </p:nvSpPr>
        <p:spPr>
          <a:xfrm>
            <a:off x="213131" y="2973567"/>
            <a:ext cx="72087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проекта: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предметную область.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решений.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основные требования к веб-приложению.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архитектуру и дизайн интерфейса.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функциональные модули приложения.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приложения.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28D25A8-4EE1-109A-8541-42859DFE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826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7724A-DB2E-896B-16B7-00C66098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FEFEE-E155-31C8-EBD5-672938BB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АНАЛОГОВ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A6516D-5F18-991E-D885-B0C71D117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817" y="964933"/>
            <a:ext cx="2804160" cy="18507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430B4B7-4A89-C707-9FDA-AF1F3504C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869" t="41735" r="60955" b="41174"/>
          <a:stretch/>
        </p:blipFill>
        <p:spPr>
          <a:xfrm>
            <a:off x="350634" y="4886759"/>
            <a:ext cx="3625138" cy="129486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ACA0FC-0382-E423-1631-C6F5ADB309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92949" y="1138873"/>
            <a:ext cx="3993674" cy="97555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1C7FB36-1F97-B9E7-D190-B19B921F37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5037" t="28762" r="13761" b="27347"/>
          <a:stretch/>
        </p:blipFill>
        <p:spPr>
          <a:xfrm>
            <a:off x="5341849" y="4057473"/>
            <a:ext cx="3173501" cy="130417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F9120A2-4BF7-41AD-28E3-E87E8A1A9D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12239" t="40681" r="28880" b="46800"/>
          <a:stretch/>
        </p:blipFill>
        <p:spPr>
          <a:xfrm>
            <a:off x="232165" y="3348064"/>
            <a:ext cx="4732960" cy="1006308"/>
          </a:xfrm>
          <a:prstGeom prst="rect">
            <a:avLst/>
          </a:prstGeom>
        </p:spPr>
      </p:pic>
      <p:pic>
        <p:nvPicPr>
          <p:cNvPr id="1032" name="Picture 8" descr="TEAMLY">
            <a:extLst>
              <a:ext uri="{FF2B5EF4-FFF2-40B4-BE49-F238E27FC236}">
                <a16:creationId xmlns:a16="http://schemas.microsoft.com/office/drawing/2014/main" id="{19169982-3C74-8FEB-A13C-6162753B42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6600" r="93350">
                        <a14:foregroundMark x1="14000" y1="46950" x2="14000" y2="46950"/>
                        <a14:foregroundMark x1="12300" y1="44750" x2="12650" y2="48500"/>
                        <a14:foregroundMark x1="6600" y1="43400" x2="7550" y2="43400"/>
                        <a14:foregroundMark x1="73400" y1="44350" x2="72600" y2="48500"/>
                        <a14:foregroundMark x1="92750" y1="42800" x2="93350" y2="4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26" t="38342" r="5037" b="38815"/>
          <a:stretch/>
        </p:blipFill>
        <p:spPr bwMode="auto">
          <a:xfrm>
            <a:off x="4677005" y="5618019"/>
            <a:ext cx="3509618" cy="8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Номер слайда 24">
            <a:extLst>
              <a:ext uri="{FF2B5EF4-FFF2-40B4-BE49-F238E27FC236}">
                <a16:creationId xmlns:a16="http://schemas.microsoft.com/office/drawing/2014/main" id="{6A4E8319-9496-2246-CDA2-501E9DD3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1026" name="Picture 2" descr="Open your Microsoft To Do when signing into Windows 10 automatically">
            <a:extLst>
              <a:ext uri="{FF2B5EF4-FFF2-40B4-BE49-F238E27FC236}">
                <a16:creationId xmlns:a16="http://schemas.microsoft.com/office/drawing/2014/main" id="{FBDDEBAB-BDAF-CF5E-A954-001CE3D48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6406" r="91016">
                        <a14:foregroundMark x1="9609" y1="41528" x2="10313" y2="45278"/>
                        <a14:foregroundMark x1="6484" y1="40833" x2="11250" y2="41944"/>
                        <a14:foregroundMark x1="10000" y1="41667" x2="10234" y2="45972"/>
                        <a14:foregroundMark x1="16250" y1="48333" x2="16563" y2="55278"/>
                        <a14:foregroundMark x1="28984" y1="42361" x2="28906" y2="49306"/>
                        <a14:foregroundMark x1="41719" y1="48194" x2="41563" y2="53194"/>
                        <a14:foregroundMark x1="91016" y1="33194" x2="89922" y2="384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83" t="21470" r="6875" b="22382"/>
          <a:stretch>
            <a:fillRect/>
          </a:stretch>
        </p:blipFill>
        <p:spPr bwMode="auto">
          <a:xfrm>
            <a:off x="5072852" y="2371539"/>
            <a:ext cx="3897538" cy="138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419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AEBBC-BFD8-CB5D-9D02-94555569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C444E-E13C-0EE3-BF60-4CB9213C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РАЗРАБОТКИ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434EDB-AD5A-05AF-C508-53CDB3D40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832" t="19048" r="7589" b="18805"/>
          <a:stretch/>
        </p:blipFill>
        <p:spPr>
          <a:xfrm>
            <a:off x="5565426" y="2339075"/>
            <a:ext cx="2420334" cy="112206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E8D9993-CB6C-AE42-AFD1-C47685385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898" y="1032691"/>
            <a:ext cx="2554456" cy="952926"/>
          </a:xfrm>
          <a:prstGeom prst="roundRect">
            <a:avLst>
              <a:gd name="adj" fmla="val 20658"/>
            </a:avLst>
          </a:prstGeom>
          <a:ln w="6350">
            <a:solidFill>
              <a:schemeClr val="tx1"/>
            </a:solidFill>
          </a:ln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6B91794-A8AC-B9D2-79A6-CA78BAC70C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0339" y="4948773"/>
            <a:ext cx="1768923" cy="1768923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5DDBD9C-DB9C-85CD-26AD-DE1F4DA88BF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580" t="19754" r="16897" b="27184"/>
          <a:stretch/>
        </p:blipFill>
        <p:spPr>
          <a:xfrm>
            <a:off x="605120" y="3060875"/>
            <a:ext cx="2195474" cy="1278538"/>
          </a:xfrm>
          <a:prstGeom prst="roundRect">
            <a:avLst>
              <a:gd name="adj" fmla="val 24511"/>
            </a:avLst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674615F-C691-83D7-3DEE-4E2E86FAEF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27577" y="637725"/>
            <a:ext cx="3117092" cy="1753364"/>
          </a:xfrm>
          <a:prstGeom prst="rect">
            <a:avLst/>
          </a:prstGeom>
        </p:spPr>
      </p:pic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98E30E9E-D23C-03F3-E806-406081E783B4}"/>
              </a:ext>
            </a:extLst>
          </p:cNvPr>
          <p:cNvGrpSpPr/>
          <p:nvPr/>
        </p:nvGrpSpPr>
        <p:grpSpPr>
          <a:xfrm>
            <a:off x="3227046" y="2846039"/>
            <a:ext cx="1911928" cy="1605825"/>
            <a:chOff x="410403" y="2830929"/>
            <a:chExt cx="2067339" cy="197028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9D159A2B-EA31-1BA8-8523-88FB38D94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19285" t="13756" r="20973" b="14325"/>
            <a:stretch/>
          </p:blipFill>
          <p:spPr>
            <a:xfrm>
              <a:off x="628650" y="2830929"/>
              <a:ext cx="1630846" cy="1509401"/>
            </a:xfrm>
            <a:prstGeom prst="rect">
              <a:avLst/>
            </a:prstGeom>
          </p:spPr>
        </p:pic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825675C8-4FC7-DDEC-868F-5F922DB88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42" t="69627" r="17077" b="12506"/>
            <a:stretch/>
          </p:blipFill>
          <p:spPr>
            <a:xfrm>
              <a:off x="410403" y="4248912"/>
              <a:ext cx="2067339" cy="552305"/>
            </a:xfrm>
            <a:prstGeom prst="rect">
              <a:avLst/>
            </a:prstGeom>
          </p:spPr>
        </p:pic>
      </p:grpSp>
      <p:pic>
        <p:nvPicPr>
          <p:cNvPr id="2058" name="Picture 10" descr="1_C6h1TzIme3v9ysl-_oVZtw">
            <a:extLst>
              <a:ext uri="{FF2B5EF4-FFF2-40B4-BE49-F238E27FC236}">
                <a16:creationId xmlns:a16="http://schemas.microsoft.com/office/drawing/2014/main" id="{060624EA-CEAB-5175-BBCE-D3C12442F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76" y="4728823"/>
            <a:ext cx="3030131" cy="1845765"/>
          </a:xfrm>
          <a:prstGeom prst="roundRect">
            <a:avLst>
              <a:gd name="adj" fmla="val 2933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9D414AAC-9994-95CA-6509-F38810440E7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16388"/>
          <a:stretch/>
        </p:blipFill>
        <p:spPr>
          <a:xfrm>
            <a:off x="3537064" y="5274765"/>
            <a:ext cx="3365727" cy="1299823"/>
          </a:xfrm>
          <a:prstGeom prst="roundRect">
            <a:avLst>
              <a:gd name="adj" fmla="val 37399"/>
            </a:avLst>
          </a:prstGeom>
        </p:spPr>
      </p:pic>
      <p:sp>
        <p:nvSpPr>
          <p:cNvPr id="47" name="Номер слайда 46">
            <a:extLst>
              <a:ext uri="{FF2B5EF4-FFF2-40B4-BE49-F238E27FC236}">
                <a16:creationId xmlns:a16="http://schemas.microsoft.com/office/drawing/2014/main" id="{A0BD4A63-37D7-5374-1D16-854A04CD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833CD6-8A63-2AF2-63C5-6EDD8B2EEE9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848264" y="1677666"/>
            <a:ext cx="2124408" cy="896235"/>
          </a:xfrm>
          <a:prstGeom prst="rect">
            <a:avLst/>
          </a:prstGeom>
        </p:spPr>
      </p:pic>
      <p:pic>
        <p:nvPicPr>
          <p:cNvPr id="2052" name="Picture 4" descr="ASP.NET Core MVC - What you NEED to know! - TutorialsEU">
            <a:extLst>
              <a:ext uri="{FF2B5EF4-FFF2-40B4-BE49-F238E27FC236}">
                <a16:creationId xmlns:a16="http://schemas.microsoft.com/office/drawing/2014/main" id="{B7844E6D-A766-3C0A-661B-43F420DF7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4" t="19176" r="18711" b="19176"/>
          <a:stretch>
            <a:fillRect/>
          </a:stretch>
        </p:blipFill>
        <p:spPr bwMode="auto">
          <a:xfrm>
            <a:off x="6407157" y="3585007"/>
            <a:ext cx="2353938" cy="1398057"/>
          </a:xfrm>
          <a:prstGeom prst="roundRect">
            <a:avLst>
              <a:gd name="adj" fmla="val 2933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76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67BF8-5768-8BCF-D30E-1D5F9D23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1758-1647-5526-B7C0-F888AE8BB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C69E8D-2DF7-6AF7-4E40-3406887A7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3639" y="768765"/>
            <a:ext cx="5276721" cy="5896386"/>
          </a:xfrm>
          <a:prstGeom prst="roundRect">
            <a:avLst>
              <a:gd name="adj" fmla="val 2693"/>
            </a:avLst>
          </a:prstGeom>
          <a:effectLst>
            <a:outerShdw blurRad="63500" sx="102000" sy="102000" algn="ctr" rotWithShape="0">
              <a:prstClr val="black">
                <a:alpha val="19000"/>
              </a:prstClr>
            </a:outerShdw>
          </a:effec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041C9A-4514-4B14-B7F4-4CFBAF18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080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EF075-3071-07B9-8CE9-838AB492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AC7AC4F-F718-E23E-8C81-791BFE3D8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85" y="365425"/>
            <a:ext cx="2649925" cy="264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6C93588-C0ED-71A2-E72A-44EDB4737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6" y="3504179"/>
            <a:ext cx="2603725" cy="322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947CB869-0051-F7E8-5802-26445B97A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683" y="3314460"/>
            <a:ext cx="2433293" cy="242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57A7E19-F17D-6C9C-B864-79BCD4619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050" y="1289813"/>
            <a:ext cx="2649925" cy="190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45E2E3F0-EE49-6EE3-56CE-5B2B673BF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635" y="702003"/>
            <a:ext cx="2532968" cy="224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4EF00430-DCD0-C390-AE57-8E2D6B001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635" y="2943266"/>
            <a:ext cx="2386527" cy="211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51B998CB-7D83-41D0-D398-579651E92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635" y="5286918"/>
            <a:ext cx="2373231" cy="145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B52DF-451F-7E65-DFA9-7EFE6FA0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755"/>
            <a:ext cx="7886700" cy="489404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МАКЕТЫ ИНТЕРФЕЙСА</a:t>
            </a: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96AE5599-26DC-D9E6-DECF-CCF2DC7E2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9647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FCF6C-7C5F-5CF0-3F28-CF4543ED6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5A39F-7D3E-8465-9AEF-9670352C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755"/>
            <a:ext cx="7886700" cy="489404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МАКЕТЫ ИНТЕРФЕЙСА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F1580F4-2715-7DE3-57F6-760F6DF5D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7" y="592063"/>
            <a:ext cx="1835170" cy="207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B7A3802-6877-14E8-79FD-FB72E2952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31" y="580263"/>
            <a:ext cx="1601297" cy="216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336EFD3B-547A-0235-A5F1-16F03E543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7" y="2680806"/>
            <a:ext cx="1888463" cy="326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689F56DA-CD20-7225-E508-A125FC054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639" y="2751602"/>
            <a:ext cx="1769883" cy="319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F9F8DE2D-0026-915D-A8E9-DD1A90116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224" y="3507545"/>
            <a:ext cx="2413993" cy="114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562A5D0B-B8A3-0989-1095-D51E24C85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987" y="4653169"/>
            <a:ext cx="2413991" cy="114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E955463C-4CA3-5132-9FAF-2A97DE55D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860" y="5383042"/>
            <a:ext cx="2272056" cy="138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>
            <a:extLst>
              <a:ext uri="{FF2B5EF4-FFF2-40B4-BE49-F238E27FC236}">
                <a16:creationId xmlns:a16="http://schemas.microsoft.com/office/drawing/2014/main" id="{CA6B915F-C537-CBFA-9E47-A07179E6C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366" y="4040314"/>
            <a:ext cx="2195026" cy="134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>
            <a:extLst>
              <a:ext uri="{FF2B5EF4-FFF2-40B4-BE49-F238E27FC236}">
                <a16:creationId xmlns:a16="http://schemas.microsoft.com/office/drawing/2014/main" id="{BD02632D-AC3B-48E3-1A8B-22B2ACDD2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969" y="5790762"/>
            <a:ext cx="2272056" cy="1078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>
            <a:extLst>
              <a:ext uri="{FF2B5EF4-FFF2-40B4-BE49-F238E27FC236}">
                <a16:creationId xmlns:a16="http://schemas.microsoft.com/office/drawing/2014/main" id="{E9B22A08-619F-82DB-0FB4-776CB4376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088" y="594060"/>
            <a:ext cx="2441599" cy="208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>
            <a:extLst>
              <a:ext uri="{FF2B5EF4-FFF2-40B4-BE49-F238E27FC236}">
                <a16:creationId xmlns:a16="http://schemas.microsoft.com/office/drawing/2014/main" id="{046137A0-6A68-CEC5-6452-B137540A4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35" y="5905425"/>
            <a:ext cx="2349144" cy="98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0" name="Picture 24">
            <a:extLst>
              <a:ext uri="{FF2B5EF4-FFF2-40B4-BE49-F238E27FC236}">
                <a16:creationId xmlns:a16="http://schemas.microsoft.com/office/drawing/2014/main" id="{D8298425-64F3-60D0-1DA2-B517916DA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036" y="2743707"/>
            <a:ext cx="2195025" cy="133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>
            <a:extLst>
              <a:ext uri="{FF2B5EF4-FFF2-40B4-BE49-F238E27FC236}">
                <a16:creationId xmlns:a16="http://schemas.microsoft.com/office/drawing/2014/main" id="{3B4EEFFB-5A13-62A7-ED00-9FE6960B3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234" y="531159"/>
            <a:ext cx="2542449" cy="150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4" name="Picture 28">
            <a:extLst>
              <a:ext uri="{FF2B5EF4-FFF2-40B4-BE49-F238E27FC236}">
                <a16:creationId xmlns:a16="http://schemas.microsoft.com/office/drawing/2014/main" id="{57F7D9C0-05A7-4A53-82B6-BEA61259E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224" y="2007515"/>
            <a:ext cx="2723628" cy="146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DF4651-11F4-AE37-DABE-0D4F6B47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755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9CD6-F311-A5A7-6250-1C894175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DF2293A7-777E-ECE0-1977-172481AD8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46" y="506010"/>
            <a:ext cx="4327754" cy="292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593E41BA-A87B-06C4-7578-6672308B8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17" y="3557961"/>
            <a:ext cx="4333032" cy="292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A56ED0D9-3529-C900-CEF9-EFDC021AC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06010"/>
            <a:ext cx="4327753" cy="292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5612980D-FB06-7DAB-BA91-9FB59FE6C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351" y="3557961"/>
            <a:ext cx="4333032" cy="292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659DA5C-C599-79D6-6F60-4A55BD1D76FB}"/>
              </a:ext>
            </a:extLst>
          </p:cNvPr>
          <p:cNvSpPr txBox="1">
            <a:spLocks/>
          </p:cNvSpPr>
          <p:nvPr/>
        </p:nvSpPr>
        <p:spPr>
          <a:xfrm>
            <a:off x="628650" y="41755"/>
            <a:ext cx="7886700" cy="489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МАКЕТЫ ИНТЕРФЕЙСА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B3E3377-81A5-C923-DAF4-AA3BAD67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7986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A56E-293B-5BFE-D3B9-757486A5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C51D4-DCCB-F05B-56BA-C41093F59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755"/>
            <a:ext cx="7886700" cy="489404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МАКЕТЫ ИНТЕРФЕЙСА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08C400F-ADDD-7E4E-5618-A7F26BC2F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50816"/>
            <a:ext cx="4508323" cy="295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2705721-C9D0-78AA-7B65-DEDFC447E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05" y="544831"/>
            <a:ext cx="4243466" cy="5768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176A4A-899F-861F-A2AE-F7197D49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819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6E31-D9DB-1C71-622F-7D4C6ECDF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EF2BE-9884-4AD8-45C3-207C8BCAD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FD0ECC-13D4-6455-FB98-7145117C9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51" y="1532307"/>
            <a:ext cx="8282698" cy="3793385"/>
          </a:xfrm>
          <a:prstGeom prst="roundRect">
            <a:avLst>
              <a:gd name="adj" fmla="val 2693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FEF9452-BE85-223F-D316-48746F9A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552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6A4B-C74B-1331-3DC2-C2C9D206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023B15-18D7-E96A-368B-A252CE25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ru-RU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прецедентов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CB80ABD-CC8B-224D-5B9A-D65057C3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3AF7C9-2229-8A4D-B3FC-8838C517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522" y="712565"/>
            <a:ext cx="2976956" cy="6042205"/>
          </a:xfrm>
          <a:prstGeom prst="roundRect">
            <a:avLst>
              <a:gd name="adj" fmla="val 2693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0805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36A40-EB8A-0445-0FC0-0B73969D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FE827-AA58-853A-5851-7018A448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АРХИТЕКТУРЫ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B8B577-4C80-D115-92BD-7B925DA1A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029" y="1318167"/>
            <a:ext cx="3400210" cy="44886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Классы моделей:</a:t>
            </a: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CategoryType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PriorityType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StatusType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UserProject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948E1048-9FE4-9DDE-C8BD-1C25F9ACE7AB}"/>
              </a:ext>
            </a:extLst>
          </p:cNvPr>
          <p:cNvSpPr txBox="1">
            <a:spLocks/>
          </p:cNvSpPr>
          <p:nvPr/>
        </p:nvSpPr>
        <p:spPr>
          <a:xfrm>
            <a:off x="4699907" y="1318167"/>
            <a:ext cx="3671064" cy="4488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Контроллеры:</a:t>
            </a: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UsersController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buClr>
                <a:schemeClr val="accent1">
                  <a:lumMod val="75000"/>
                </a:schemeClr>
              </a:buClr>
            </a:pP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ProjectsController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63D0FA-1F55-004E-8FFD-96C56A9736F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60546" y="3429000"/>
            <a:ext cx="2622168" cy="2622168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D8AA2CE-2C0B-E678-5285-56638E3A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8184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3043-749D-5FC9-5BA3-4A1D1B12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86B61-E221-8F7C-DD17-D7240A2E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БАЗЫ ДАННЫХ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86B522-87A1-36CC-CED1-2B1E2307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87EA71-48B5-FF9F-21FB-A5BA51A99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955041"/>
            <a:ext cx="7772503" cy="5624583"/>
          </a:xfrm>
          <a:prstGeom prst="roundRect">
            <a:avLst>
              <a:gd name="adj" fmla="val 2693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6172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211C-B912-4C8D-24A3-6AF87D2B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9A8E1-CA7A-A6FC-2F57-252FB655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МОДУЛЕЙ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6B3025-7E4D-9486-5DB8-5D529EC3B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463" y="1318167"/>
            <a:ext cx="7539073" cy="4488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Сервисы приложения: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ChartService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ExcelReportService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LogService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MailService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PasswordService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SortUsersService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TokenService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UserProjectService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EA9DCB-0E67-3DF6-4372-D1A730713AC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60474" y="2035030"/>
            <a:ext cx="3054876" cy="3054876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7BF07B8-B8B3-3C03-E14E-A36382FB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2972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8D993-0337-3D4C-2F6C-C08EB1B8F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2E389CD-E6ED-6479-2126-8EBF58CBA94E}"/>
              </a:ext>
            </a:extLst>
          </p:cNvPr>
          <p:cNvSpPr txBox="1">
            <a:spLocks/>
          </p:cNvSpPr>
          <p:nvPr/>
        </p:nvSpPr>
        <p:spPr>
          <a:xfrm>
            <a:off x="628650" y="41754"/>
            <a:ext cx="7886700" cy="796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ИНТЕРФЕЙСА ГЛАВНЫХ СТРАНИЦ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364B17F-1C6D-D0CF-D3D3-DCA5F837E9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2"/>
          <a:stretch/>
        </p:blipFill>
        <p:spPr bwMode="auto">
          <a:xfrm>
            <a:off x="193822" y="3897397"/>
            <a:ext cx="6241755" cy="2858154"/>
          </a:xfrm>
          <a:prstGeom prst="roundRect">
            <a:avLst>
              <a:gd name="adj" fmla="val 2693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810444-5EFE-0AF0-D6D3-8DA98E7440A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 bwMode="auto">
          <a:xfrm>
            <a:off x="1885790" y="891881"/>
            <a:ext cx="6865938" cy="2858154"/>
          </a:xfrm>
          <a:prstGeom prst="roundRect">
            <a:avLst>
              <a:gd name="adj" fmla="val 2693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ABBDA6-8439-CBEF-EC3A-696A4C0E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6773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D0B27-E39A-C63E-C223-B0616649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542F3EDB-EA27-3D33-B606-7EE9A312C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755"/>
            <a:ext cx="8324850" cy="840170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«АВТОМАТИЧЕСКИЙ» ПОДБОР ОТВЕТСТВЕННЫХ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ED3C1C-26B2-449D-F56D-6FC9E049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21620" y="6356352"/>
            <a:ext cx="2122379" cy="446544"/>
          </a:xfrm>
        </p:spPr>
        <p:txBody>
          <a:bodyPr/>
          <a:lstStyle/>
          <a:p>
            <a:fld id="{67DF0C54-6F6A-427E-942C-213547A49635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9525773-2C08-DF89-BA7A-7F01C3CA6E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11946" r="39992"/>
          <a:stretch>
            <a:fillRect/>
          </a:stretch>
        </p:blipFill>
        <p:spPr>
          <a:xfrm>
            <a:off x="428483" y="1183793"/>
            <a:ext cx="3237499" cy="1770493"/>
          </a:xfrm>
          <a:prstGeom prst="roundRect">
            <a:avLst>
              <a:gd name="adj" fmla="val 4604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547EAFF-EA90-F0D7-276E-4B48F5E66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73" y="3111953"/>
            <a:ext cx="2714471" cy="3072384"/>
          </a:xfrm>
          <a:prstGeom prst="roundRect">
            <a:avLst>
              <a:gd name="adj" fmla="val 4604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AC2B426-1B3E-D783-939B-82E5E75404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12" t="3382" r="799"/>
          <a:stretch>
            <a:fillRect/>
          </a:stretch>
        </p:blipFill>
        <p:spPr>
          <a:xfrm>
            <a:off x="4310199" y="1183793"/>
            <a:ext cx="2844652" cy="4047118"/>
          </a:xfrm>
          <a:prstGeom prst="roundRect">
            <a:avLst>
              <a:gd name="adj" fmla="val 4604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2396D139-5775-2E27-7B90-AB127B80AC50}"/>
              </a:ext>
            </a:extLst>
          </p:cNvPr>
          <p:cNvSpPr/>
          <p:nvPr/>
        </p:nvSpPr>
        <p:spPr>
          <a:xfrm>
            <a:off x="1541780" y="1655976"/>
            <a:ext cx="1068635" cy="158720"/>
          </a:xfrm>
          <a:prstGeom prst="roundRect">
            <a:avLst>
              <a:gd name="adj" fmla="val 41342"/>
            </a:avLst>
          </a:pr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582061177">
                  <a:custGeom>
                    <a:avLst/>
                    <a:gdLst>
                      <a:gd name="connsiteX0" fmla="*/ 0 w 813757"/>
                      <a:gd name="connsiteY0" fmla="*/ 58766 h 142146"/>
                      <a:gd name="connsiteX1" fmla="*/ 58766 w 813757"/>
                      <a:gd name="connsiteY1" fmla="*/ 0 h 142146"/>
                      <a:gd name="connsiteX2" fmla="*/ 754991 w 813757"/>
                      <a:gd name="connsiteY2" fmla="*/ 0 h 142146"/>
                      <a:gd name="connsiteX3" fmla="*/ 813757 w 813757"/>
                      <a:gd name="connsiteY3" fmla="*/ 58766 h 142146"/>
                      <a:gd name="connsiteX4" fmla="*/ 813757 w 813757"/>
                      <a:gd name="connsiteY4" fmla="*/ 83380 h 142146"/>
                      <a:gd name="connsiteX5" fmla="*/ 754991 w 813757"/>
                      <a:gd name="connsiteY5" fmla="*/ 142146 h 142146"/>
                      <a:gd name="connsiteX6" fmla="*/ 58766 w 813757"/>
                      <a:gd name="connsiteY6" fmla="*/ 142146 h 142146"/>
                      <a:gd name="connsiteX7" fmla="*/ 0 w 813757"/>
                      <a:gd name="connsiteY7" fmla="*/ 83380 h 142146"/>
                      <a:gd name="connsiteX8" fmla="*/ 0 w 813757"/>
                      <a:gd name="connsiteY8" fmla="*/ 58766 h 1421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13757" h="142146" extrusionOk="0">
                        <a:moveTo>
                          <a:pt x="0" y="58766"/>
                        </a:moveTo>
                        <a:cubicBezTo>
                          <a:pt x="4558" y="23861"/>
                          <a:pt x="25216" y="-5885"/>
                          <a:pt x="58766" y="0"/>
                        </a:cubicBezTo>
                        <a:cubicBezTo>
                          <a:pt x="230695" y="-32968"/>
                          <a:pt x="554079" y="4187"/>
                          <a:pt x="754991" y="0"/>
                        </a:cubicBezTo>
                        <a:cubicBezTo>
                          <a:pt x="781845" y="-920"/>
                          <a:pt x="818834" y="31491"/>
                          <a:pt x="813757" y="58766"/>
                        </a:cubicBezTo>
                        <a:cubicBezTo>
                          <a:pt x="814081" y="66810"/>
                          <a:pt x="812611" y="77471"/>
                          <a:pt x="813757" y="83380"/>
                        </a:cubicBezTo>
                        <a:cubicBezTo>
                          <a:pt x="818340" y="116053"/>
                          <a:pt x="786824" y="141675"/>
                          <a:pt x="754991" y="142146"/>
                        </a:cubicBezTo>
                        <a:cubicBezTo>
                          <a:pt x="481224" y="139469"/>
                          <a:pt x="343764" y="167783"/>
                          <a:pt x="58766" y="142146"/>
                        </a:cubicBezTo>
                        <a:cubicBezTo>
                          <a:pt x="29303" y="138136"/>
                          <a:pt x="220" y="113760"/>
                          <a:pt x="0" y="83380"/>
                        </a:cubicBezTo>
                        <a:cubicBezTo>
                          <a:pt x="-741" y="73868"/>
                          <a:pt x="228" y="64201"/>
                          <a:pt x="0" y="5876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C789951F-B2CF-FBE9-32E1-0659A910054B}"/>
              </a:ext>
            </a:extLst>
          </p:cNvPr>
          <p:cNvSpPr/>
          <p:nvPr/>
        </p:nvSpPr>
        <p:spPr>
          <a:xfrm>
            <a:off x="1541780" y="1875943"/>
            <a:ext cx="1068635" cy="158720"/>
          </a:xfrm>
          <a:prstGeom prst="roundRect">
            <a:avLst>
              <a:gd name="adj" fmla="val 41342"/>
            </a:avLst>
          </a:pr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582061177">
                  <a:custGeom>
                    <a:avLst/>
                    <a:gdLst>
                      <a:gd name="connsiteX0" fmla="*/ 0 w 813757"/>
                      <a:gd name="connsiteY0" fmla="*/ 58766 h 142146"/>
                      <a:gd name="connsiteX1" fmla="*/ 58766 w 813757"/>
                      <a:gd name="connsiteY1" fmla="*/ 0 h 142146"/>
                      <a:gd name="connsiteX2" fmla="*/ 754991 w 813757"/>
                      <a:gd name="connsiteY2" fmla="*/ 0 h 142146"/>
                      <a:gd name="connsiteX3" fmla="*/ 813757 w 813757"/>
                      <a:gd name="connsiteY3" fmla="*/ 58766 h 142146"/>
                      <a:gd name="connsiteX4" fmla="*/ 813757 w 813757"/>
                      <a:gd name="connsiteY4" fmla="*/ 83380 h 142146"/>
                      <a:gd name="connsiteX5" fmla="*/ 754991 w 813757"/>
                      <a:gd name="connsiteY5" fmla="*/ 142146 h 142146"/>
                      <a:gd name="connsiteX6" fmla="*/ 58766 w 813757"/>
                      <a:gd name="connsiteY6" fmla="*/ 142146 h 142146"/>
                      <a:gd name="connsiteX7" fmla="*/ 0 w 813757"/>
                      <a:gd name="connsiteY7" fmla="*/ 83380 h 142146"/>
                      <a:gd name="connsiteX8" fmla="*/ 0 w 813757"/>
                      <a:gd name="connsiteY8" fmla="*/ 58766 h 1421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13757" h="142146" extrusionOk="0">
                        <a:moveTo>
                          <a:pt x="0" y="58766"/>
                        </a:moveTo>
                        <a:cubicBezTo>
                          <a:pt x="4558" y="23861"/>
                          <a:pt x="25216" y="-5885"/>
                          <a:pt x="58766" y="0"/>
                        </a:cubicBezTo>
                        <a:cubicBezTo>
                          <a:pt x="230695" y="-32968"/>
                          <a:pt x="554079" y="4187"/>
                          <a:pt x="754991" y="0"/>
                        </a:cubicBezTo>
                        <a:cubicBezTo>
                          <a:pt x="781845" y="-920"/>
                          <a:pt x="818834" y="31491"/>
                          <a:pt x="813757" y="58766"/>
                        </a:cubicBezTo>
                        <a:cubicBezTo>
                          <a:pt x="814081" y="66810"/>
                          <a:pt x="812611" y="77471"/>
                          <a:pt x="813757" y="83380"/>
                        </a:cubicBezTo>
                        <a:cubicBezTo>
                          <a:pt x="818340" y="116053"/>
                          <a:pt x="786824" y="141675"/>
                          <a:pt x="754991" y="142146"/>
                        </a:cubicBezTo>
                        <a:cubicBezTo>
                          <a:pt x="481224" y="139469"/>
                          <a:pt x="343764" y="167783"/>
                          <a:pt x="58766" y="142146"/>
                        </a:cubicBezTo>
                        <a:cubicBezTo>
                          <a:pt x="29303" y="138136"/>
                          <a:pt x="220" y="113760"/>
                          <a:pt x="0" y="83380"/>
                        </a:cubicBezTo>
                        <a:cubicBezTo>
                          <a:pt x="-741" y="73868"/>
                          <a:pt x="228" y="64201"/>
                          <a:pt x="0" y="5876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6D0E0C0F-B026-51F2-C2CF-C97912CA044C}"/>
              </a:ext>
            </a:extLst>
          </p:cNvPr>
          <p:cNvSpPr/>
          <p:nvPr/>
        </p:nvSpPr>
        <p:spPr>
          <a:xfrm>
            <a:off x="1535827" y="2651793"/>
            <a:ext cx="1068635" cy="158720"/>
          </a:xfrm>
          <a:prstGeom prst="roundRect">
            <a:avLst>
              <a:gd name="adj" fmla="val 31740"/>
            </a:avLst>
          </a:pr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582061177">
                  <a:custGeom>
                    <a:avLst/>
                    <a:gdLst>
                      <a:gd name="connsiteX0" fmla="*/ 0 w 813757"/>
                      <a:gd name="connsiteY0" fmla="*/ 58766 h 142146"/>
                      <a:gd name="connsiteX1" fmla="*/ 58766 w 813757"/>
                      <a:gd name="connsiteY1" fmla="*/ 0 h 142146"/>
                      <a:gd name="connsiteX2" fmla="*/ 754991 w 813757"/>
                      <a:gd name="connsiteY2" fmla="*/ 0 h 142146"/>
                      <a:gd name="connsiteX3" fmla="*/ 813757 w 813757"/>
                      <a:gd name="connsiteY3" fmla="*/ 58766 h 142146"/>
                      <a:gd name="connsiteX4" fmla="*/ 813757 w 813757"/>
                      <a:gd name="connsiteY4" fmla="*/ 83380 h 142146"/>
                      <a:gd name="connsiteX5" fmla="*/ 754991 w 813757"/>
                      <a:gd name="connsiteY5" fmla="*/ 142146 h 142146"/>
                      <a:gd name="connsiteX6" fmla="*/ 58766 w 813757"/>
                      <a:gd name="connsiteY6" fmla="*/ 142146 h 142146"/>
                      <a:gd name="connsiteX7" fmla="*/ 0 w 813757"/>
                      <a:gd name="connsiteY7" fmla="*/ 83380 h 142146"/>
                      <a:gd name="connsiteX8" fmla="*/ 0 w 813757"/>
                      <a:gd name="connsiteY8" fmla="*/ 58766 h 1421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13757" h="142146" extrusionOk="0">
                        <a:moveTo>
                          <a:pt x="0" y="58766"/>
                        </a:moveTo>
                        <a:cubicBezTo>
                          <a:pt x="4558" y="23861"/>
                          <a:pt x="25216" y="-5885"/>
                          <a:pt x="58766" y="0"/>
                        </a:cubicBezTo>
                        <a:cubicBezTo>
                          <a:pt x="230695" y="-32968"/>
                          <a:pt x="554079" y="4187"/>
                          <a:pt x="754991" y="0"/>
                        </a:cubicBezTo>
                        <a:cubicBezTo>
                          <a:pt x="781845" y="-920"/>
                          <a:pt x="818834" y="31491"/>
                          <a:pt x="813757" y="58766"/>
                        </a:cubicBezTo>
                        <a:cubicBezTo>
                          <a:pt x="814081" y="66810"/>
                          <a:pt x="812611" y="77471"/>
                          <a:pt x="813757" y="83380"/>
                        </a:cubicBezTo>
                        <a:cubicBezTo>
                          <a:pt x="818340" y="116053"/>
                          <a:pt x="786824" y="141675"/>
                          <a:pt x="754991" y="142146"/>
                        </a:cubicBezTo>
                        <a:cubicBezTo>
                          <a:pt x="481224" y="139469"/>
                          <a:pt x="343764" y="167783"/>
                          <a:pt x="58766" y="142146"/>
                        </a:cubicBezTo>
                        <a:cubicBezTo>
                          <a:pt x="29303" y="138136"/>
                          <a:pt x="220" y="113760"/>
                          <a:pt x="0" y="83380"/>
                        </a:cubicBezTo>
                        <a:cubicBezTo>
                          <a:pt x="-741" y="73868"/>
                          <a:pt x="228" y="64201"/>
                          <a:pt x="0" y="5876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F901954B-BDD4-08E0-5DC6-9ADAC66E71E3}"/>
              </a:ext>
            </a:extLst>
          </p:cNvPr>
          <p:cNvSpPr/>
          <p:nvPr/>
        </p:nvSpPr>
        <p:spPr>
          <a:xfrm>
            <a:off x="4567934" y="3398815"/>
            <a:ext cx="2313919" cy="228600"/>
          </a:xfrm>
          <a:prstGeom prst="roundRect">
            <a:avLst>
              <a:gd name="adj" fmla="val 21405"/>
            </a:avLst>
          </a:pr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582061177">
                  <a:custGeom>
                    <a:avLst/>
                    <a:gdLst>
                      <a:gd name="connsiteX0" fmla="*/ 0 w 2364106"/>
                      <a:gd name="connsiteY0" fmla="*/ 94841 h 229405"/>
                      <a:gd name="connsiteX1" fmla="*/ 94841 w 2364106"/>
                      <a:gd name="connsiteY1" fmla="*/ 0 h 229405"/>
                      <a:gd name="connsiteX2" fmla="*/ 660191 w 2364106"/>
                      <a:gd name="connsiteY2" fmla="*/ 0 h 229405"/>
                      <a:gd name="connsiteX3" fmla="*/ 1138565 w 2364106"/>
                      <a:gd name="connsiteY3" fmla="*/ 0 h 229405"/>
                      <a:gd name="connsiteX4" fmla="*/ 1660426 w 2364106"/>
                      <a:gd name="connsiteY4" fmla="*/ 0 h 229405"/>
                      <a:gd name="connsiteX5" fmla="*/ 2269265 w 2364106"/>
                      <a:gd name="connsiteY5" fmla="*/ 0 h 229405"/>
                      <a:gd name="connsiteX6" fmla="*/ 2364106 w 2364106"/>
                      <a:gd name="connsiteY6" fmla="*/ 94841 h 229405"/>
                      <a:gd name="connsiteX7" fmla="*/ 2364106 w 2364106"/>
                      <a:gd name="connsiteY7" fmla="*/ 134564 h 229405"/>
                      <a:gd name="connsiteX8" fmla="*/ 2269265 w 2364106"/>
                      <a:gd name="connsiteY8" fmla="*/ 229405 h 229405"/>
                      <a:gd name="connsiteX9" fmla="*/ 1725659 w 2364106"/>
                      <a:gd name="connsiteY9" fmla="*/ 229405 h 229405"/>
                      <a:gd name="connsiteX10" fmla="*/ 1225541 w 2364106"/>
                      <a:gd name="connsiteY10" fmla="*/ 229405 h 229405"/>
                      <a:gd name="connsiteX11" fmla="*/ 660191 w 2364106"/>
                      <a:gd name="connsiteY11" fmla="*/ 229405 h 229405"/>
                      <a:gd name="connsiteX12" fmla="*/ 94841 w 2364106"/>
                      <a:gd name="connsiteY12" fmla="*/ 229405 h 229405"/>
                      <a:gd name="connsiteX13" fmla="*/ 0 w 2364106"/>
                      <a:gd name="connsiteY13" fmla="*/ 134564 h 229405"/>
                      <a:gd name="connsiteX14" fmla="*/ 0 w 2364106"/>
                      <a:gd name="connsiteY14" fmla="*/ 94841 h 2294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364106" h="229405" extrusionOk="0">
                        <a:moveTo>
                          <a:pt x="0" y="94841"/>
                        </a:moveTo>
                        <a:cubicBezTo>
                          <a:pt x="7217" y="38584"/>
                          <a:pt x="40695" y="-9500"/>
                          <a:pt x="94841" y="0"/>
                        </a:cubicBezTo>
                        <a:cubicBezTo>
                          <a:pt x="210371" y="-22772"/>
                          <a:pt x="524399" y="27254"/>
                          <a:pt x="660191" y="0"/>
                        </a:cubicBezTo>
                        <a:cubicBezTo>
                          <a:pt x="795983" y="-27254"/>
                          <a:pt x="943766" y="-4835"/>
                          <a:pt x="1138565" y="0"/>
                        </a:cubicBezTo>
                        <a:cubicBezTo>
                          <a:pt x="1333364" y="4835"/>
                          <a:pt x="1525837" y="-13117"/>
                          <a:pt x="1660426" y="0"/>
                        </a:cubicBezTo>
                        <a:cubicBezTo>
                          <a:pt x="1795015" y="13117"/>
                          <a:pt x="2009758" y="-26519"/>
                          <a:pt x="2269265" y="0"/>
                        </a:cubicBezTo>
                        <a:cubicBezTo>
                          <a:pt x="2332908" y="534"/>
                          <a:pt x="2354297" y="35054"/>
                          <a:pt x="2364106" y="94841"/>
                        </a:cubicBezTo>
                        <a:cubicBezTo>
                          <a:pt x="2363405" y="106054"/>
                          <a:pt x="2362203" y="119747"/>
                          <a:pt x="2364106" y="134564"/>
                        </a:cubicBezTo>
                        <a:cubicBezTo>
                          <a:pt x="2368882" y="180544"/>
                          <a:pt x="2322567" y="220679"/>
                          <a:pt x="2269265" y="229405"/>
                        </a:cubicBezTo>
                        <a:cubicBezTo>
                          <a:pt x="2082075" y="222316"/>
                          <a:pt x="1996699" y="223628"/>
                          <a:pt x="1725659" y="229405"/>
                        </a:cubicBezTo>
                        <a:cubicBezTo>
                          <a:pt x="1454619" y="235182"/>
                          <a:pt x="1403109" y="231566"/>
                          <a:pt x="1225541" y="229405"/>
                        </a:cubicBezTo>
                        <a:cubicBezTo>
                          <a:pt x="1047973" y="227244"/>
                          <a:pt x="862741" y="253691"/>
                          <a:pt x="660191" y="229405"/>
                        </a:cubicBezTo>
                        <a:cubicBezTo>
                          <a:pt x="457641" y="205120"/>
                          <a:pt x="305050" y="252326"/>
                          <a:pt x="94841" y="229405"/>
                        </a:cubicBezTo>
                        <a:cubicBezTo>
                          <a:pt x="47437" y="232220"/>
                          <a:pt x="2006" y="174797"/>
                          <a:pt x="0" y="134564"/>
                        </a:cubicBezTo>
                        <a:cubicBezTo>
                          <a:pt x="1534" y="119132"/>
                          <a:pt x="-1955" y="106990"/>
                          <a:pt x="0" y="9484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E882FB0-113E-E87C-D796-8015DD1FD4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098"/>
          <a:stretch>
            <a:fillRect/>
          </a:stretch>
        </p:blipFill>
        <p:spPr>
          <a:xfrm>
            <a:off x="5898764" y="5406250"/>
            <a:ext cx="2245712" cy="1308786"/>
          </a:xfrm>
          <a:prstGeom prst="roundRect">
            <a:avLst>
              <a:gd name="adj" fmla="val 4604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6" name="Левая фигурная скобка 45">
            <a:extLst>
              <a:ext uri="{FF2B5EF4-FFF2-40B4-BE49-F238E27FC236}">
                <a16:creationId xmlns:a16="http://schemas.microsoft.com/office/drawing/2014/main" id="{A518DDF5-B56F-2A22-D7AD-4626AFB382C8}"/>
              </a:ext>
            </a:extLst>
          </p:cNvPr>
          <p:cNvSpPr/>
          <p:nvPr/>
        </p:nvSpPr>
        <p:spPr>
          <a:xfrm rot="10800000">
            <a:off x="2359611" y="3598613"/>
            <a:ext cx="204978" cy="1456249"/>
          </a:xfrm>
          <a:custGeom>
            <a:avLst/>
            <a:gdLst>
              <a:gd name="connsiteX0" fmla="*/ 204978 w 204978"/>
              <a:gd name="connsiteY0" fmla="*/ 1456249 h 1456249"/>
              <a:gd name="connsiteX1" fmla="*/ 102489 w 204978"/>
              <a:gd name="connsiteY1" fmla="*/ 1439168 h 1456249"/>
              <a:gd name="connsiteX2" fmla="*/ 102489 w 204978"/>
              <a:gd name="connsiteY2" fmla="*/ 1080292 h 1456249"/>
              <a:gd name="connsiteX3" fmla="*/ 102489 w 204978"/>
              <a:gd name="connsiteY3" fmla="*/ 749021 h 1456249"/>
              <a:gd name="connsiteX4" fmla="*/ 0 w 204978"/>
              <a:gd name="connsiteY4" fmla="*/ 731940 h 1456249"/>
              <a:gd name="connsiteX5" fmla="*/ 102489 w 204978"/>
              <a:gd name="connsiteY5" fmla="*/ 714859 h 1456249"/>
              <a:gd name="connsiteX6" fmla="*/ 102489 w 204978"/>
              <a:gd name="connsiteY6" fmla="*/ 358992 h 1456249"/>
              <a:gd name="connsiteX7" fmla="*/ 102489 w 204978"/>
              <a:gd name="connsiteY7" fmla="*/ 17081 h 1456249"/>
              <a:gd name="connsiteX8" fmla="*/ 204978 w 204978"/>
              <a:gd name="connsiteY8" fmla="*/ 0 h 1456249"/>
              <a:gd name="connsiteX9" fmla="*/ 204978 w 204978"/>
              <a:gd name="connsiteY9" fmla="*/ 441729 h 1456249"/>
              <a:gd name="connsiteX10" fmla="*/ 204978 w 204978"/>
              <a:gd name="connsiteY10" fmla="*/ 883458 h 1456249"/>
              <a:gd name="connsiteX11" fmla="*/ 204978 w 204978"/>
              <a:gd name="connsiteY11" fmla="*/ 1456249 h 1456249"/>
              <a:gd name="connsiteX0" fmla="*/ 204978 w 204978"/>
              <a:gd name="connsiteY0" fmla="*/ 1456249 h 1456249"/>
              <a:gd name="connsiteX1" fmla="*/ 102489 w 204978"/>
              <a:gd name="connsiteY1" fmla="*/ 1439168 h 1456249"/>
              <a:gd name="connsiteX2" fmla="*/ 102489 w 204978"/>
              <a:gd name="connsiteY2" fmla="*/ 1100996 h 1456249"/>
              <a:gd name="connsiteX3" fmla="*/ 102489 w 204978"/>
              <a:gd name="connsiteY3" fmla="*/ 749021 h 1456249"/>
              <a:gd name="connsiteX4" fmla="*/ 0 w 204978"/>
              <a:gd name="connsiteY4" fmla="*/ 731940 h 1456249"/>
              <a:gd name="connsiteX5" fmla="*/ 102489 w 204978"/>
              <a:gd name="connsiteY5" fmla="*/ 714859 h 1456249"/>
              <a:gd name="connsiteX6" fmla="*/ 102489 w 204978"/>
              <a:gd name="connsiteY6" fmla="*/ 386903 h 1456249"/>
              <a:gd name="connsiteX7" fmla="*/ 102489 w 204978"/>
              <a:gd name="connsiteY7" fmla="*/ 17081 h 1456249"/>
              <a:gd name="connsiteX8" fmla="*/ 204978 w 204978"/>
              <a:gd name="connsiteY8" fmla="*/ 0 h 145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978" h="1456249" stroke="0" extrusionOk="0">
                <a:moveTo>
                  <a:pt x="204978" y="1456249"/>
                </a:moveTo>
                <a:cubicBezTo>
                  <a:pt x="148998" y="1455428"/>
                  <a:pt x="102959" y="1449586"/>
                  <a:pt x="102489" y="1439168"/>
                </a:cubicBezTo>
                <a:cubicBezTo>
                  <a:pt x="83312" y="1309161"/>
                  <a:pt x="102703" y="1194730"/>
                  <a:pt x="102489" y="1080292"/>
                </a:cubicBezTo>
                <a:cubicBezTo>
                  <a:pt x="102275" y="965854"/>
                  <a:pt x="103838" y="898334"/>
                  <a:pt x="102489" y="749021"/>
                </a:cubicBezTo>
                <a:cubicBezTo>
                  <a:pt x="90318" y="740573"/>
                  <a:pt x="55446" y="734018"/>
                  <a:pt x="0" y="731940"/>
                </a:cubicBezTo>
                <a:cubicBezTo>
                  <a:pt x="55995" y="732199"/>
                  <a:pt x="103845" y="726438"/>
                  <a:pt x="102489" y="714859"/>
                </a:cubicBezTo>
                <a:cubicBezTo>
                  <a:pt x="60474" y="556510"/>
                  <a:pt x="109574" y="484495"/>
                  <a:pt x="102489" y="358992"/>
                </a:cubicBezTo>
                <a:cubicBezTo>
                  <a:pt x="95404" y="233489"/>
                  <a:pt x="120991" y="147161"/>
                  <a:pt x="102489" y="17081"/>
                </a:cubicBezTo>
                <a:cubicBezTo>
                  <a:pt x="108799" y="5821"/>
                  <a:pt x="140666" y="-891"/>
                  <a:pt x="204978" y="0"/>
                </a:cubicBezTo>
                <a:cubicBezTo>
                  <a:pt x="244654" y="113990"/>
                  <a:pt x="173322" y="320156"/>
                  <a:pt x="204978" y="441729"/>
                </a:cubicBezTo>
                <a:cubicBezTo>
                  <a:pt x="236634" y="563302"/>
                  <a:pt x="168908" y="706860"/>
                  <a:pt x="204978" y="883458"/>
                </a:cubicBezTo>
                <a:cubicBezTo>
                  <a:pt x="241048" y="1060056"/>
                  <a:pt x="153181" y="1217060"/>
                  <a:pt x="204978" y="1456249"/>
                </a:cubicBezTo>
                <a:close/>
              </a:path>
              <a:path w="204978" h="1456249" fill="none" extrusionOk="0">
                <a:moveTo>
                  <a:pt x="204978" y="1456249"/>
                </a:moveTo>
                <a:cubicBezTo>
                  <a:pt x="148402" y="1458390"/>
                  <a:pt x="102455" y="1448106"/>
                  <a:pt x="102489" y="1439168"/>
                </a:cubicBezTo>
                <a:cubicBezTo>
                  <a:pt x="96472" y="1318617"/>
                  <a:pt x="142471" y="1261041"/>
                  <a:pt x="102489" y="1100996"/>
                </a:cubicBezTo>
                <a:cubicBezTo>
                  <a:pt x="62507" y="940951"/>
                  <a:pt x="139862" y="911714"/>
                  <a:pt x="102489" y="749021"/>
                </a:cubicBezTo>
                <a:cubicBezTo>
                  <a:pt x="97108" y="742397"/>
                  <a:pt x="57005" y="734057"/>
                  <a:pt x="0" y="731940"/>
                </a:cubicBezTo>
                <a:cubicBezTo>
                  <a:pt x="58986" y="731585"/>
                  <a:pt x="102846" y="723034"/>
                  <a:pt x="102489" y="714859"/>
                </a:cubicBezTo>
                <a:cubicBezTo>
                  <a:pt x="79056" y="617423"/>
                  <a:pt x="140394" y="537599"/>
                  <a:pt x="102489" y="386903"/>
                </a:cubicBezTo>
                <a:cubicBezTo>
                  <a:pt x="64584" y="236207"/>
                  <a:pt x="108221" y="188455"/>
                  <a:pt x="102489" y="17081"/>
                </a:cubicBezTo>
                <a:cubicBezTo>
                  <a:pt x="102385" y="6433"/>
                  <a:pt x="143438" y="8667"/>
                  <a:pt x="204978" y="0"/>
                </a:cubicBezTo>
              </a:path>
              <a:path w="204978" h="1456249" fill="none" stroke="0" extrusionOk="0">
                <a:moveTo>
                  <a:pt x="204978" y="1456249"/>
                </a:moveTo>
                <a:cubicBezTo>
                  <a:pt x="149358" y="1456285"/>
                  <a:pt x="102339" y="1448387"/>
                  <a:pt x="102489" y="1439168"/>
                </a:cubicBezTo>
                <a:cubicBezTo>
                  <a:pt x="65785" y="1303634"/>
                  <a:pt x="138757" y="1265284"/>
                  <a:pt x="102489" y="1107897"/>
                </a:cubicBezTo>
                <a:cubicBezTo>
                  <a:pt x="66221" y="950510"/>
                  <a:pt x="107918" y="833300"/>
                  <a:pt x="102489" y="749021"/>
                </a:cubicBezTo>
                <a:cubicBezTo>
                  <a:pt x="112240" y="743249"/>
                  <a:pt x="61323" y="728793"/>
                  <a:pt x="0" y="731940"/>
                </a:cubicBezTo>
                <a:cubicBezTo>
                  <a:pt x="56074" y="730189"/>
                  <a:pt x="100814" y="724815"/>
                  <a:pt x="102489" y="714859"/>
                </a:cubicBezTo>
                <a:cubicBezTo>
                  <a:pt x="66206" y="619664"/>
                  <a:pt x="128836" y="512291"/>
                  <a:pt x="102489" y="379926"/>
                </a:cubicBezTo>
                <a:cubicBezTo>
                  <a:pt x="76142" y="247561"/>
                  <a:pt x="118963" y="168478"/>
                  <a:pt x="102489" y="17081"/>
                </a:cubicBezTo>
                <a:cubicBezTo>
                  <a:pt x="108723" y="1064"/>
                  <a:pt x="147012" y="-8256"/>
                  <a:pt x="204978" y="0"/>
                </a:cubicBezTo>
              </a:path>
            </a:pathLst>
          </a:custGeom>
          <a:ln w="19050">
            <a:solidFill>
              <a:schemeClr val="tx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4061303304">
                  <a:prstGeom prst="leftBrace">
                    <a:avLst>
                      <a:gd name="adj1" fmla="val 8333"/>
                      <a:gd name="adj2" fmla="val 5026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Левая фигурная скобка 46">
            <a:extLst>
              <a:ext uri="{FF2B5EF4-FFF2-40B4-BE49-F238E27FC236}">
                <a16:creationId xmlns:a16="http://schemas.microsoft.com/office/drawing/2014/main" id="{F4039760-8BDC-7CF4-9D1A-5B31DFF2ED07}"/>
              </a:ext>
            </a:extLst>
          </p:cNvPr>
          <p:cNvSpPr/>
          <p:nvPr/>
        </p:nvSpPr>
        <p:spPr>
          <a:xfrm rot="10800000">
            <a:off x="2359611" y="5171951"/>
            <a:ext cx="204978" cy="739141"/>
          </a:xfrm>
          <a:custGeom>
            <a:avLst/>
            <a:gdLst>
              <a:gd name="connsiteX0" fmla="*/ 204978 w 204978"/>
              <a:gd name="connsiteY0" fmla="*/ 739141 h 739141"/>
              <a:gd name="connsiteX1" fmla="*/ 102489 w 204978"/>
              <a:gd name="connsiteY1" fmla="*/ 722060 h 739141"/>
              <a:gd name="connsiteX2" fmla="*/ 102489 w 204978"/>
              <a:gd name="connsiteY2" fmla="*/ 388588 h 739141"/>
              <a:gd name="connsiteX3" fmla="*/ 0 w 204978"/>
              <a:gd name="connsiteY3" fmla="*/ 371507 h 739141"/>
              <a:gd name="connsiteX4" fmla="*/ 102489 w 204978"/>
              <a:gd name="connsiteY4" fmla="*/ 354426 h 739141"/>
              <a:gd name="connsiteX5" fmla="*/ 102489 w 204978"/>
              <a:gd name="connsiteY5" fmla="*/ 17081 h 739141"/>
              <a:gd name="connsiteX6" fmla="*/ 204978 w 204978"/>
              <a:gd name="connsiteY6" fmla="*/ 0 h 739141"/>
              <a:gd name="connsiteX7" fmla="*/ 204978 w 204978"/>
              <a:gd name="connsiteY7" fmla="*/ 347396 h 739141"/>
              <a:gd name="connsiteX8" fmla="*/ 204978 w 204978"/>
              <a:gd name="connsiteY8" fmla="*/ 739141 h 739141"/>
              <a:gd name="connsiteX0" fmla="*/ 204978 w 204978"/>
              <a:gd name="connsiteY0" fmla="*/ 739141 h 739141"/>
              <a:gd name="connsiteX1" fmla="*/ 102489 w 204978"/>
              <a:gd name="connsiteY1" fmla="*/ 722060 h 739141"/>
              <a:gd name="connsiteX2" fmla="*/ 102489 w 204978"/>
              <a:gd name="connsiteY2" fmla="*/ 388588 h 739141"/>
              <a:gd name="connsiteX3" fmla="*/ 0 w 204978"/>
              <a:gd name="connsiteY3" fmla="*/ 371507 h 739141"/>
              <a:gd name="connsiteX4" fmla="*/ 102489 w 204978"/>
              <a:gd name="connsiteY4" fmla="*/ 354426 h 739141"/>
              <a:gd name="connsiteX5" fmla="*/ 102489 w 204978"/>
              <a:gd name="connsiteY5" fmla="*/ 17081 h 739141"/>
              <a:gd name="connsiteX6" fmla="*/ 204978 w 204978"/>
              <a:gd name="connsiteY6" fmla="*/ 0 h 739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978" h="739141" stroke="0" extrusionOk="0">
                <a:moveTo>
                  <a:pt x="204978" y="739141"/>
                </a:moveTo>
                <a:cubicBezTo>
                  <a:pt x="148998" y="738320"/>
                  <a:pt x="102959" y="732478"/>
                  <a:pt x="102489" y="722060"/>
                </a:cubicBezTo>
                <a:cubicBezTo>
                  <a:pt x="88925" y="620858"/>
                  <a:pt x="122748" y="491334"/>
                  <a:pt x="102489" y="388588"/>
                </a:cubicBezTo>
                <a:cubicBezTo>
                  <a:pt x="98798" y="380337"/>
                  <a:pt x="52663" y="371105"/>
                  <a:pt x="0" y="371507"/>
                </a:cubicBezTo>
                <a:cubicBezTo>
                  <a:pt x="57343" y="371441"/>
                  <a:pt x="104447" y="365280"/>
                  <a:pt x="102489" y="354426"/>
                </a:cubicBezTo>
                <a:cubicBezTo>
                  <a:pt x="93343" y="186064"/>
                  <a:pt x="112049" y="89328"/>
                  <a:pt x="102489" y="17081"/>
                </a:cubicBezTo>
                <a:cubicBezTo>
                  <a:pt x="100938" y="5260"/>
                  <a:pt x="160175" y="-3475"/>
                  <a:pt x="204978" y="0"/>
                </a:cubicBezTo>
                <a:cubicBezTo>
                  <a:pt x="215360" y="157023"/>
                  <a:pt x="194277" y="276811"/>
                  <a:pt x="204978" y="347396"/>
                </a:cubicBezTo>
                <a:cubicBezTo>
                  <a:pt x="215679" y="417981"/>
                  <a:pt x="185582" y="573366"/>
                  <a:pt x="204978" y="739141"/>
                </a:cubicBezTo>
                <a:close/>
              </a:path>
              <a:path w="204978" h="739141" fill="none" extrusionOk="0">
                <a:moveTo>
                  <a:pt x="204978" y="739141"/>
                </a:moveTo>
                <a:cubicBezTo>
                  <a:pt x="147010" y="738614"/>
                  <a:pt x="102831" y="730469"/>
                  <a:pt x="102489" y="722060"/>
                </a:cubicBezTo>
                <a:cubicBezTo>
                  <a:pt x="102483" y="631756"/>
                  <a:pt x="139728" y="504522"/>
                  <a:pt x="102489" y="388588"/>
                </a:cubicBezTo>
                <a:cubicBezTo>
                  <a:pt x="110077" y="368348"/>
                  <a:pt x="62837" y="364924"/>
                  <a:pt x="0" y="371507"/>
                </a:cubicBezTo>
                <a:cubicBezTo>
                  <a:pt x="56381" y="370162"/>
                  <a:pt x="102516" y="366001"/>
                  <a:pt x="102489" y="354426"/>
                </a:cubicBezTo>
                <a:cubicBezTo>
                  <a:pt x="86669" y="185891"/>
                  <a:pt x="105842" y="180603"/>
                  <a:pt x="102489" y="17081"/>
                </a:cubicBezTo>
                <a:cubicBezTo>
                  <a:pt x="95429" y="15788"/>
                  <a:pt x="153165" y="-1635"/>
                  <a:pt x="204978" y="0"/>
                </a:cubicBezTo>
              </a:path>
              <a:path w="204978" h="739141" fill="none" stroke="0" extrusionOk="0">
                <a:moveTo>
                  <a:pt x="204978" y="739141"/>
                </a:moveTo>
                <a:cubicBezTo>
                  <a:pt x="147689" y="737569"/>
                  <a:pt x="102315" y="730362"/>
                  <a:pt x="102489" y="722060"/>
                </a:cubicBezTo>
                <a:cubicBezTo>
                  <a:pt x="101479" y="613087"/>
                  <a:pt x="115880" y="500435"/>
                  <a:pt x="102489" y="388588"/>
                </a:cubicBezTo>
                <a:cubicBezTo>
                  <a:pt x="104210" y="379217"/>
                  <a:pt x="52068" y="365015"/>
                  <a:pt x="0" y="371507"/>
                </a:cubicBezTo>
                <a:cubicBezTo>
                  <a:pt x="56463" y="370061"/>
                  <a:pt x="103434" y="361963"/>
                  <a:pt x="102489" y="354426"/>
                </a:cubicBezTo>
                <a:cubicBezTo>
                  <a:pt x="86237" y="272347"/>
                  <a:pt x="127275" y="98263"/>
                  <a:pt x="102489" y="17081"/>
                </a:cubicBezTo>
                <a:cubicBezTo>
                  <a:pt x="107221" y="-1984"/>
                  <a:pt x="145629" y="2005"/>
                  <a:pt x="204978" y="0"/>
                </a:cubicBezTo>
              </a:path>
            </a:pathLst>
          </a:custGeom>
          <a:ln w="19050">
            <a:solidFill>
              <a:schemeClr val="tx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4061303304">
                  <a:prstGeom prst="leftBrace">
                    <a:avLst>
                      <a:gd name="adj1" fmla="val 8333"/>
                      <a:gd name="adj2" fmla="val 5026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991A92BB-46B3-D9D0-3245-365AF77A65B8}"/>
              </a:ext>
            </a:extLst>
          </p:cNvPr>
          <p:cNvSpPr/>
          <p:nvPr/>
        </p:nvSpPr>
        <p:spPr>
          <a:xfrm>
            <a:off x="2610415" y="4134332"/>
            <a:ext cx="1097936" cy="38481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Александра – </a:t>
            </a:r>
          </a:p>
          <a:p>
            <a:pPr algn="ctr"/>
            <a:r>
              <a:rPr lang="ru-RU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задачи</a:t>
            </a: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D1CD398F-FCAB-5D20-CFD4-0C6E6B64CD0B}"/>
              </a:ext>
            </a:extLst>
          </p:cNvPr>
          <p:cNvSpPr/>
          <p:nvPr/>
        </p:nvSpPr>
        <p:spPr>
          <a:xfrm>
            <a:off x="2610415" y="5344266"/>
            <a:ext cx="964586" cy="38481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Анна – </a:t>
            </a:r>
          </a:p>
          <a:p>
            <a:pPr algn="ctr"/>
            <a:r>
              <a:rPr lang="ru-RU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задача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7C63DBFE-CBCC-BA0F-0F85-A153D58F8C63}"/>
              </a:ext>
            </a:extLst>
          </p:cNvPr>
          <p:cNvSpPr/>
          <p:nvPr/>
        </p:nvSpPr>
        <p:spPr>
          <a:xfrm>
            <a:off x="360990" y="892284"/>
            <a:ext cx="1617143" cy="48940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 пользователей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88BA4C44-FE09-D511-4F34-B1CF63154770}"/>
              </a:ext>
            </a:extLst>
          </p:cNvPr>
          <p:cNvSpPr/>
          <p:nvPr/>
        </p:nvSpPr>
        <p:spPr>
          <a:xfrm>
            <a:off x="7288185" y="2579708"/>
            <a:ext cx="1718656" cy="906967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предложение сотрудников, с наименьшей загруженностью</a:t>
            </a: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13C6687D-4329-FC3F-5AB5-5B7F74D10DCA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6881853" y="3486675"/>
            <a:ext cx="1265660" cy="506205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F9215A5F-5B48-E3DB-2AFA-873851252934}"/>
              </a:ext>
            </a:extLst>
          </p:cNvPr>
          <p:cNvSpPr/>
          <p:nvPr/>
        </p:nvSpPr>
        <p:spPr>
          <a:xfrm>
            <a:off x="3373799" y="5916757"/>
            <a:ext cx="2122307" cy="53516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выбрана категория – </a:t>
            </a:r>
          </a:p>
          <a:p>
            <a:pPr algn="ctr"/>
            <a:r>
              <a:rPr lang="ru-RU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доступны все сотрудники</a:t>
            </a:r>
          </a:p>
        </p:txBody>
      </p:sp>
      <p:cxnSp>
        <p:nvCxnSpPr>
          <p:cNvPr id="82" name="Прямая соединительная линия 81">
            <a:extLst>
              <a:ext uri="{FF2B5EF4-FFF2-40B4-BE49-F238E27FC236}">
                <a16:creationId xmlns:a16="http://schemas.microsoft.com/office/drawing/2014/main" id="{54ED7B95-E725-F982-D5D4-B723F0B0633D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2604462" y="2731153"/>
            <a:ext cx="1963472" cy="78196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8013170B-7704-B85E-00A4-0BE07BD4F5F6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2610415" y="1955303"/>
            <a:ext cx="1957519" cy="154190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DCC6532A-1016-E9A6-69D1-665BB78F15C3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>
            <a:off x="2610415" y="1735336"/>
            <a:ext cx="1957519" cy="177777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E79CD6A9-96D4-3FDB-ECB4-18598F5E61E0}"/>
              </a:ext>
            </a:extLst>
          </p:cNvPr>
          <p:cNvCxnSpPr/>
          <p:nvPr/>
        </p:nvCxnSpPr>
        <p:spPr>
          <a:xfrm>
            <a:off x="5215612" y="4126569"/>
            <a:ext cx="436880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64DD26D6-6736-15AF-2340-97DA2F13CDB8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5496106" y="5674045"/>
            <a:ext cx="572719" cy="510292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4571E3A0-31DC-FCC4-4484-984E7B7C66D3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5496106" y="6184337"/>
            <a:ext cx="572719" cy="184154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790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7028A-14F0-2A74-2B82-33F9D175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D75CA5A-E82E-A15E-5B63-8A87728B2CCE}"/>
              </a:ext>
            </a:extLst>
          </p:cNvPr>
          <p:cNvSpPr txBox="1">
            <a:spLocks/>
          </p:cNvSpPr>
          <p:nvPr/>
        </p:nvSpPr>
        <p:spPr>
          <a:xfrm>
            <a:off x="628650" y="190448"/>
            <a:ext cx="7886700" cy="489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ИСТОРИИ ДЕЙСТВИЙ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D9A829DA-ECBE-6D80-71D4-7F2C17581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17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8381B55-EFAB-44CB-C385-531442962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1" b="6319"/>
          <a:stretch>
            <a:fillRect/>
          </a:stretch>
        </p:blipFill>
        <p:spPr>
          <a:xfrm>
            <a:off x="5402578" y="1251216"/>
            <a:ext cx="3619500" cy="979440"/>
          </a:xfrm>
          <a:prstGeom prst="roundRect">
            <a:avLst>
              <a:gd name="adj" fmla="val 2693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5CB25F6-7999-E80A-F65E-88C81A440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40" y="2802021"/>
            <a:ext cx="4014810" cy="3865531"/>
          </a:xfrm>
          <a:prstGeom prst="roundRect">
            <a:avLst>
              <a:gd name="adj" fmla="val 2693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1789C2-B899-687A-496C-771FBE8021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2" y="790781"/>
            <a:ext cx="4544142" cy="3141140"/>
          </a:xfrm>
          <a:prstGeom prst="roundRect">
            <a:avLst>
              <a:gd name="adj" fmla="val 2693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FA58F6C-F787-C23C-3F00-2D808E19A1CC}"/>
              </a:ext>
            </a:extLst>
          </p:cNvPr>
          <p:cNvCxnSpPr>
            <a:cxnSpLocks/>
          </p:cNvCxnSpPr>
          <p:nvPr/>
        </p:nvCxnSpPr>
        <p:spPr>
          <a:xfrm>
            <a:off x="4320540" y="1394460"/>
            <a:ext cx="1287780" cy="3276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46F08FD4-9732-9AEB-3D67-45D951367419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515100" y="2230656"/>
            <a:ext cx="697228" cy="17012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786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1FD1-71DE-3AF5-DDC4-6BFE2A7CE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A4086BE-7E6E-DBFF-9197-119B37428C9F}"/>
              </a:ext>
            </a:extLst>
          </p:cNvPr>
          <p:cNvSpPr txBox="1">
            <a:spLocks/>
          </p:cNvSpPr>
          <p:nvPr/>
        </p:nvSpPr>
        <p:spPr>
          <a:xfrm>
            <a:off x="628650" y="186535"/>
            <a:ext cx="7886700" cy="4894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 И СТАТИСТИКА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33E4332-E5B0-91EC-3636-DE7E6443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7C95C13-4E9A-16AA-CD8F-00296DB2B7D1}"/>
              </a:ext>
            </a:extLst>
          </p:cNvPr>
          <p:cNvSpPr/>
          <p:nvPr/>
        </p:nvSpPr>
        <p:spPr>
          <a:xfrm>
            <a:off x="628650" y="826870"/>
            <a:ext cx="2571332" cy="906967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по категориям и периоду времени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3D72F30-F383-0BAF-C415-D56A7C6C1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1784873"/>
            <a:ext cx="8816340" cy="3669765"/>
          </a:xfrm>
          <a:prstGeom prst="roundRect">
            <a:avLst>
              <a:gd name="adj" fmla="val 2693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108D72B-3E81-0604-1548-FD9CAD6CBD3A}"/>
              </a:ext>
            </a:extLst>
          </p:cNvPr>
          <p:cNvSpPr/>
          <p:nvPr/>
        </p:nvSpPr>
        <p:spPr>
          <a:xfrm>
            <a:off x="5371891" y="5764498"/>
            <a:ext cx="1928069" cy="616955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 сотрудников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6A23E542-23A6-BF50-29B0-D24E0045CAA5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1356360" y="1733837"/>
            <a:ext cx="557956" cy="14390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7B27A198-C9EB-E18C-B9BE-9A8AE423ABCC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6335926" y="4396740"/>
            <a:ext cx="750674" cy="136775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45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6D26F-10AB-F968-1676-F89F0A89B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8EBF7-EA21-E789-5074-B9B09013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7956ADEB-9D5E-7BD7-F7E7-D916EA5C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19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1096AF-2BB8-CBF3-E99F-7E7C674D3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659" y="1617905"/>
            <a:ext cx="3943379" cy="2522132"/>
          </a:xfrm>
          <a:prstGeom prst="roundRect">
            <a:avLst>
              <a:gd name="adj" fmla="val 5371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00FD41-3B7A-C0CF-150C-BADF3CC75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28" y="1427389"/>
            <a:ext cx="3484984" cy="3862015"/>
          </a:xfrm>
          <a:prstGeom prst="roundRect">
            <a:avLst>
              <a:gd name="adj" fmla="val 5371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2C42CDB-0C7C-A347-5F30-6766B42C3161}"/>
              </a:ext>
            </a:extLst>
          </p:cNvPr>
          <p:cNvSpPr/>
          <p:nvPr/>
        </p:nvSpPr>
        <p:spPr>
          <a:xfrm>
            <a:off x="5657641" y="1325450"/>
            <a:ext cx="3230880" cy="39653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ProjectsController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(13 </a:t>
            </a: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тестов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5A277E0-1291-9863-E53A-E8101B69546D}"/>
              </a:ext>
            </a:extLst>
          </p:cNvPr>
          <p:cNvSpPr/>
          <p:nvPr/>
        </p:nvSpPr>
        <p:spPr>
          <a:xfrm>
            <a:off x="174781" y="1119423"/>
            <a:ext cx="3230880" cy="39653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UsersController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(26 </a:t>
            </a: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тестов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370BBD-7613-CA99-8F03-CB7986C9BB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19304" b="2"/>
          <a:stretch>
            <a:fillRect/>
          </a:stretch>
        </p:blipFill>
        <p:spPr>
          <a:xfrm>
            <a:off x="2201791" y="5425860"/>
            <a:ext cx="5358307" cy="1261020"/>
          </a:xfrm>
          <a:prstGeom prst="roundRect">
            <a:avLst>
              <a:gd name="adj" fmla="val 5371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2EC2761-C16E-847A-A9B3-ECFC7DD998C4}"/>
              </a:ext>
            </a:extLst>
          </p:cNvPr>
          <p:cNvSpPr/>
          <p:nvPr/>
        </p:nvSpPr>
        <p:spPr>
          <a:xfrm>
            <a:off x="5525407" y="5206458"/>
            <a:ext cx="3230880" cy="39653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78824"/>
            </a:schemeClr>
          </a:solidFill>
          <a:ln w="12700">
            <a:solidFill>
              <a:schemeClr val="tx2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649458335">
                  <a:custGeom>
                    <a:avLst/>
                    <a:gdLst>
                      <a:gd name="connsiteX0" fmla="*/ 0 w 2168446"/>
                      <a:gd name="connsiteY0" fmla="*/ 151164 h 906967"/>
                      <a:gd name="connsiteX1" fmla="*/ 151164 w 2168446"/>
                      <a:gd name="connsiteY1" fmla="*/ 0 h 906967"/>
                      <a:gd name="connsiteX2" fmla="*/ 810526 w 2168446"/>
                      <a:gd name="connsiteY2" fmla="*/ 0 h 906967"/>
                      <a:gd name="connsiteX3" fmla="*/ 1413904 w 2168446"/>
                      <a:gd name="connsiteY3" fmla="*/ 0 h 906967"/>
                      <a:gd name="connsiteX4" fmla="*/ 2017282 w 2168446"/>
                      <a:gd name="connsiteY4" fmla="*/ 0 h 906967"/>
                      <a:gd name="connsiteX5" fmla="*/ 2168446 w 2168446"/>
                      <a:gd name="connsiteY5" fmla="*/ 151164 h 906967"/>
                      <a:gd name="connsiteX6" fmla="*/ 2168446 w 2168446"/>
                      <a:gd name="connsiteY6" fmla="*/ 755803 h 906967"/>
                      <a:gd name="connsiteX7" fmla="*/ 2017282 w 2168446"/>
                      <a:gd name="connsiteY7" fmla="*/ 906967 h 906967"/>
                      <a:gd name="connsiteX8" fmla="*/ 1451226 w 2168446"/>
                      <a:gd name="connsiteY8" fmla="*/ 906967 h 906967"/>
                      <a:gd name="connsiteX9" fmla="*/ 866509 w 2168446"/>
                      <a:gd name="connsiteY9" fmla="*/ 906967 h 906967"/>
                      <a:gd name="connsiteX10" fmla="*/ 151164 w 2168446"/>
                      <a:gd name="connsiteY10" fmla="*/ 906967 h 906967"/>
                      <a:gd name="connsiteX11" fmla="*/ 0 w 2168446"/>
                      <a:gd name="connsiteY11" fmla="*/ 755803 h 906967"/>
                      <a:gd name="connsiteX12" fmla="*/ 0 w 2168446"/>
                      <a:gd name="connsiteY12" fmla="*/ 151164 h 906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68446" h="906967" fill="none" extrusionOk="0">
                        <a:moveTo>
                          <a:pt x="0" y="151164"/>
                        </a:moveTo>
                        <a:cubicBezTo>
                          <a:pt x="-7266" y="65675"/>
                          <a:pt x="66512" y="-1673"/>
                          <a:pt x="151164" y="0"/>
                        </a:cubicBezTo>
                        <a:cubicBezTo>
                          <a:pt x="378483" y="-6139"/>
                          <a:pt x="497263" y="-518"/>
                          <a:pt x="810526" y="0"/>
                        </a:cubicBezTo>
                        <a:cubicBezTo>
                          <a:pt x="1123789" y="518"/>
                          <a:pt x="1189635" y="-12329"/>
                          <a:pt x="1413904" y="0"/>
                        </a:cubicBezTo>
                        <a:cubicBezTo>
                          <a:pt x="1638173" y="12329"/>
                          <a:pt x="1876984" y="12857"/>
                          <a:pt x="2017282" y="0"/>
                        </a:cubicBezTo>
                        <a:cubicBezTo>
                          <a:pt x="2087145" y="7471"/>
                          <a:pt x="2177192" y="64790"/>
                          <a:pt x="2168446" y="151164"/>
                        </a:cubicBezTo>
                        <a:cubicBezTo>
                          <a:pt x="2139804" y="283694"/>
                          <a:pt x="2150064" y="601175"/>
                          <a:pt x="2168446" y="755803"/>
                        </a:cubicBezTo>
                        <a:cubicBezTo>
                          <a:pt x="2163395" y="832346"/>
                          <a:pt x="2105921" y="906696"/>
                          <a:pt x="2017282" y="906967"/>
                        </a:cubicBezTo>
                        <a:cubicBezTo>
                          <a:pt x="1846487" y="932367"/>
                          <a:pt x="1680673" y="891788"/>
                          <a:pt x="1451226" y="906967"/>
                        </a:cubicBezTo>
                        <a:cubicBezTo>
                          <a:pt x="1221779" y="922146"/>
                          <a:pt x="1020194" y="928144"/>
                          <a:pt x="866509" y="906967"/>
                        </a:cubicBezTo>
                        <a:cubicBezTo>
                          <a:pt x="712824" y="885790"/>
                          <a:pt x="508306" y="895075"/>
                          <a:pt x="151164" y="906967"/>
                        </a:cubicBezTo>
                        <a:cubicBezTo>
                          <a:pt x="67347" y="920918"/>
                          <a:pt x="-3318" y="821433"/>
                          <a:pt x="0" y="755803"/>
                        </a:cubicBezTo>
                        <a:cubicBezTo>
                          <a:pt x="-20873" y="540273"/>
                          <a:pt x="28505" y="431982"/>
                          <a:pt x="0" y="151164"/>
                        </a:cubicBezTo>
                        <a:close/>
                      </a:path>
                      <a:path w="2168446" h="906967" stroke="0" extrusionOk="0">
                        <a:moveTo>
                          <a:pt x="0" y="151164"/>
                        </a:moveTo>
                        <a:cubicBezTo>
                          <a:pt x="-9290" y="56491"/>
                          <a:pt x="76331" y="-10374"/>
                          <a:pt x="151164" y="0"/>
                        </a:cubicBezTo>
                        <a:cubicBezTo>
                          <a:pt x="474889" y="-15868"/>
                          <a:pt x="658449" y="-32413"/>
                          <a:pt x="810526" y="0"/>
                        </a:cubicBezTo>
                        <a:cubicBezTo>
                          <a:pt x="962603" y="32413"/>
                          <a:pt x="1258602" y="25966"/>
                          <a:pt x="1413904" y="0"/>
                        </a:cubicBezTo>
                        <a:cubicBezTo>
                          <a:pt x="1569206" y="-25966"/>
                          <a:pt x="1730775" y="-20692"/>
                          <a:pt x="2017282" y="0"/>
                        </a:cubicBezTo>
                        <a:cubicBezTo>
                          <a:pt x="2116161" y="2428"/>
                          <a:pt x="2155870" y="79653"/>
                          <a:pt x="2168446" y="151164"/>
                        </a:cubicBezTo>
                        <a:cubicBezTo>
                          <a:pt x="2170225" y="334459"/>
                          <a:pt x="2177246" y="473922"/>
                          <a:pt x="2168446" y="755803"/>
                        </a:cubicBezTo>
                        <a:cubicBezTo>
                          <a:pt x="2179168" y="832191"/>
                          <a:pt x="2089593" y="899058"/>
                          <a:pt x="2017282" y="906967"/>
                        </a:cubicBezTo>
                        <a:cubicBezTo>
                          <a:pt x="1753021" y="908552"/>
                          <a:pt x="1552399" y="892028"/>
                          <a:pt x="1432565" y="906967"/>
                        </a:cubicBezTo>
                        <a:cubicBezTo>
                          <a:pt x="1312731" y="921906"/>
                          <a:pt x="1032389" y="908281"/>
                          <a:pt x="773203" y="906967"/>
                        </a:cubicBezTo>
                        <a:cubicBezTo>
                          <a:pt x="514017" y="905653"/>
                          <a:pt x="459070" y="935309"/>
                          <a:pt x="151164" y="906967"/>
                        </a:cubicBezTo>
                        <a:cubicBezTo>
                          <a:pt x="61553" y="908076"/>
                          <a:pt x="489" y="852965"/>
                          <a:pt x="0" y="755803"/>
                        </a:cubicBezTo>
                        <a:cubicBezTo>
                          <a:pt x="9331" y="549837"/>
                          <a:pt x="19128" y="337517"/>
                          <a:pt x="0" y="1511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покрытия кода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90%</a:t>
            </a: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488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5276-0943-813F-7C9E-A0904CC4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C06BA-68C0-5B73-73D4-79590F52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РАЗВИТИЕ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D9F7DA-2BDF-1808-8F67-290BBB76D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506" y="1450883"/>
            <a:ext cx="6807116" cy="5214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дальнейшем развитии </a:t>
            </a:r>
            <a:b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запланированы следующие улучшения:</a:t>
            </a:r>
          </a:p>
          <a:p>
            <a:pPr marL="0" indent="0">
              <a:buNone/>
            </a:pPr>
            <a:endParaRPr lang="ru-RU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Более гибкий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Детальная настройка статистики.</a:t>
            </a: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отчетов по статистике.</a:t>
            </a: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Уведомления пользователей о задачам.</a:t>
            </a: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и просмотр уведомлений в приложении.</a:t>
            </a: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внешними сервисами.</a:t>
            </a: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Индивидуальная настройки статусов и приоритетов.</a:t>
            </a:r>
          </a:p>
          <a:p>
            <a:pPr>
              <a:buFont typeface="Courier New" panose="02070309020205020404" pitchFamily="49" charset="0"/>
              <a:buChar char="o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A1DAE1-E335-B5B5-5499-2076E7ADD61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02147" y="2052463"/>
            <a:ext cx="2753074" cy="2753074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74F8BC-D052-A00A-2F68-1C9B1CB0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7882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1095-FC5C-4F99-0E1A-385B14BC6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F8712-0FC6-0F46-830F-2A149A25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849"/>
            <a:ext cx="7886700" cy="66191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982457-6284-B29F-E7F5-C0E4DE735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660" y="1471509"/>
            <a:ext cx="6766961" cy="4830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выполнения проекта были выполнены следующие задачи:</a:t>
            </a:r>
          </a:p>
          <a:p>
            <a:pPr lvl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сравнительный анализ существующих решений.</a:t>
            </a:r>
          </a:p>
          <a:p>
            <a:pPr lvl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Выявлена целевая аудитория.</a:t>
            </a:r>
          </a:p>
          <a:p>
            <a:pPr lvl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требования к веб-приложению.</a:t>
            </a:r>
          </a:p>
          <a:p>
            <a:pPr lvl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архитектура.</a:t>
            </a:r>
          </a:p>
          <a:p>
            <a:pPr lvl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дизайн интерфейса.</a:t>
            </a:r>
          </a:p>
          <a:p>
            <a:pPr lvl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функциональные модули.</a:t>
            </a:r>
          </a:p>
          <a:p>
            <a:pPr lvl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протестировано, проанализированы полученные результаты.</a:t>
            </a:r>
          </a:p>
          <a:p>
            <a:pPr>
              <a:lnSpc>
                <a:spcPct val="110000"/>
              </a:lnSpc>
              <a:buClr>
                <a:schemeClr val="accent1">
                  <a:lumMod val="75000"/>
                </a:schemeClr>
              </a:buClr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990E46-8F80-E4A2-B929-1ED87C65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0C54-6F6A-427E-942C-213547A49635}" type="slidenum">
              <a:rPr lang="ru-RU" smtClean="0"/>
              <a:pPr/>
              <a:t>21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7BE8CE-CDE9-BDEF-D52D-510276B97B1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5174" y="2250239"/>
            <a:ext cx="2176981" cy="217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674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</TotalTime>
  <Words>827</Words>
  <Application>Microsoft Office PowerPoint</Application>
  <PresentationFormat>Экран (4:3)</PresentationFormat>
  <Paragraphs>156</Paragraphs>
  <Slides>21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Times New Roman</vt:lpstr>
      <vt:lpstr>Wingdings</vt:lpstr>
      <vt:lpstr>Тема Office</vt:lpstr>
      <vt:lpstr>Презентация PowerPoint</vt:lpstr>
      <vt:lpstr>ЦЕЛИ И ЗАДАЧИ</vt:lpstr>
      <vt:lpstr>АНАЛИЗ АНАЛОГОВ</vt:lpstr>
      <vt:lpstr>СРЕДСТВА РАЗРАБОТКИ</vt:lpstr>
      <vt:lpstr>ER-ДИАГРАММА</vt:lpstr>
      <vt:lpstr>МАКЕТЫ ИНТЕРФЕЙСА</vt:lpstr>
      <vt:lpstr>МАКЕТЫ ИНТЕРФЕЙСА</vt:lpstr>
      <vt:lpstr>Презентация PowerPoint</vt:lpstr>
      <vt:lpstr>МАКЕТЫ ИНТЕРФЕЙСА</vt:lpstr>
      <vt:lpstr>ДИАГРАММА КЛАССОВ</vt:lpstr>
      <vt:lpstr>ДИАГРАММА прецедентов</vt:lpstr>
      <vt:lpstr>РЕАЛИЗАЦИЯ АРХИТЕКТУРЫ</vt:lpstr>
      <vt:lpstr>РЕАЛИЗАЦИЯ БАЗЫ ДАННЫХ</vt:lpstr>
      <vt:lpstr>РЕАЛИЗАЦИЯ МОДУЛЕЙ</vt:lpstr>
      <vt:lpstr>Презентация PowerPoint</vt:lpstr>
      <vt:lpstr>«АВТОМАТИЧЕСКИЙ» ПОДБОР ОТВЕТСТВЕННЫХ</vt:lpstr>
      <vt:lpstr>Презентация PowerPoint</vt:lpstr>
      <vt:lpstr>Презентация PowerPoint</vt:lpstr>
      <vt:lpstr>ТЕСТИРОВАНИЕ</vt:lpstr>
      <vt:lpstr>ДАЛЬНЕЙШЕЕ РАЗВИТИЕ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Александра Руденко</dc:creator>
  <cp:lastModifiedBy>Александра Руденко</cp:lastModifiedBy>
  <cp:revision>28</cp:revision>
  <cp:lastPrinted>2025-06-02T18:37:46Z</cp:lastPrinted>
  <dcterms:created xsi:type="dcterms:W3CDTF">2025-06-02T10:52:49Z</dcterms:created>
  <dcterms:modified xsi:type="dcterms:W3CDTF">2025-06-07T12:32:11Z</dcterms:modified>
</cp:coreProperties>
</file>